
<file path=[Content_Types].xml><?xml version="1.0" encoding="utf-8"?>
<Types xmlns="http://schemas.openxmlformats.org/package/2006/content-types">
  <Default Extension="fntdata" ContentType="application/x-fontdata"/>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autoCompressPictures="0">
  <p:sldMasterIdLst>
    <p:sldMasterId id="2147483648" r:id="rId1"/>
  </p:sldMasterIdLst>
  <p:notesMasterIdLst>
    <p:notesMasterId r:id="rId15"/>
  </p:notesMasterIdLst>
  <p:sldIdLst>
    <p:sldId id="266" r:id="rId2"/>
    <p:sldId id="257" r:id="rId3"/>
    <p:sldId id="258" r:id="rId4"/>
    <p:sldId id="268" r:id="rId5"/>
    <p:sldId id="269" r:id="rId6"/>
    <p:sldId id="259" r:id="rId7"/>
    <p:sldId id="260" r:id="rId8"/>
    <p:sldId id="261" r:id="rId9"/>
    <p:sldId id="262" r:id="rId10"/>
    <p:sldId id="263" r:id="rId11"/>
    <p:sldId id="264" r:id="rId12"/>
    <p:sldId id="265" r:id="rId13"/>
    <p:sldId id="267" r:id="rId14"/>
  </p:sldIdLst>
  <p:sldSz cx="14630400" cy="8229600"/>
  <p:notesSz cx="8229600" cy="14630400"/>
  <p:embeddedFontLst>
    <p:embeddedFont>
      <p:font typeface="Merriweather" panose="00000500000000000000" pitchFamily="2" charset="0"/>
      <p:regular r:id="rId16"/>
      <p:bold r:id="rId17"/>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609DFF"/>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E69B9A27-7045-4644-BB8B-0B934D43C4B4}" v="93" dt="2025-05-22T09:46:03.775"/>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F5AB1C69-6EDB-4FF4-983F-18BD219EF322}" styleName="Medium Style 2 - Accent 3">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3">
              <a:tint val="20000"/>
            </a:schemeClr>
          </a:solidFill>
        </a:fill>
      </a:tcStyle>
    </a:wholeTbl>
    <a:band1H>
      <a:tcStyle>
        <a:tcBdr/>
        <a:fill>
          <a:solidFill>
            <a:schemeClr val="accent3">
              <a:tint val="40000"/>
            </a:schemeClr>
          </a:solidFill>
        </a:fill>
      </a:tcStyle>
    </a:band1H>
    <a:band2H>
      <a:tcStyle>
        <a:tcBdr/>
      </a:tcStyle>
    </a:band2H>
    <a:band1V>
      <a:tcStyle>
        <a:tcBdr/>
        <a:fill>
          <a:solidFill>
            <a:schemeClr val="accent3">
              <a:tint val="40000"/>
            </a:schemeClr>
          </a:solidFill>
        </a:fill>
      </a:tcStyle>
    </a:band1V>
    <a:band2V>
      <a:tcStyle>
        <a:tcBdr/>
      </a:tcStyle>
    </a:band2V>
    <a:lastCol>
      <a:tcTxStyle b="on">
        <a:fontRef idx="minor">
          <a:prstClr val="black"/>
        </a:fontRef>
        <a:schemeClr val="lt1"/>
      </a:tcTxStyle>
      <a:tcStyle>
        <a:tcBdr/>
        <a:fill>
          <a:solidFill>
            <a:schemeClr val="accent3"/>
          </a:solidFill>
        </a:fill>
      </a:tcStyle>
    </a:lastCol>
    <a:firstCol>
      <a:tcTxStyle b="on">
        <a:fontRef idx="minor">
          <a:prstClr val="black"/>
        </a:fontRef>
        <a:schemeClr val="lt1"/>
      </a:tcTxStyle>
      <a:tcStyle>
        <a:tcBdr/>
        <a:fill>
          <a:solidFill>
            <a:schemeClr val="accent3"/>
          </a:solidFill>
        </a:fill>
      </a:tcStyle>
    </a:firstCol>
    <a:lastRow>
      <a:tcTxStyle b="on">
        <a:fontRef idx="minor">
          <a:prstClr val="black"/>
        </a:fontRef>
        <a:schemeClr val="lt1"/>
      </a:tcTxStyle>
      <a:tcStyle>
        <a:tcBdr>
          <a:top>
            <a:ln w="38100" cmpd="sng">
              <a:solidFill>
                <a:schemeClr val="lt1"/>
              </a:solidFill>
            </a:ln>
          </a:top>
        </a:tcBdr>
        <a:fill>
          <a:solidFill>
            <a:schemeClr val="accent3"/>
          </a:solidFill>
        </a:fill>
      </a:tcStyle>
    </a:lastRow>
    <a:firstRow>
      <a:tcTxStyle b="on">
        <a:fontRef idx="minor">
          <a:prstClr val="black"/>
        </a:fontRef>
        <a:schemeClr val="lt1"/>
      </a:tcTxStyle>
      <a:tcStyle>
        <a:tcBdr>
          <a:bottom>
            <a:ln w="38100" cmpd="sng">
              <a:solidFill>
                <a:schemeClr val="lt1"/>
              </a:solidFill>
            </a:ln>
          </a:bottom>
        </a:tcBdr>
        <a:fill>
          <a:solidFill>
            <a:schemeClr val="accent3"/>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11"/>
    <p:restoredTop sz="94610"/>
  </p:normalViewPr>
  <p:slideViewPr>
    <p:cSldViewPr snapToGrid="0" snapToObjects="1">
      <p:cViewPr varScale="1">
        <p:scale>
          <a:sx n="65" d="100"/>
          <a:sy n="65" d="100"/>
        </p:scale>
        <p:origin x="830" y="53"/>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presProps" Target="presProps.xml"/><Relationship Id="rId3" Type="http://schemas.openxmlformats.org/officeDocument/2006/relationships/slide" Target="slides/slide2.xml"/><Relationship Id="rId21" Type="http://schemas.openxmlformats.org/officeDocument/2006/relationships/tableStyles" Target="tableStyle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font" Target="fonts/font2.fntdata"/><Relationship Id="rId2" Type="http://schemas.openxmlformats.org/officeDocument/2006/relationships/slide" Target="slides/slide1.xml"/><Relationship Id="rId16" Type="http://schemas.openxmlformats.org/officeDocument/2006/relationships/font" Target="fonts/font1.fntdata"/><Relationship Id="rId20"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notesMaster" Target="notesMasters/notesMaster1.xml"/><Relationship Id="rId23" Type="http://schemas.microsoft.com/office/2015/10/relationships/revisionInfo" Target="revisionInfo.xml"/><Relationship Id="rId10" Type="http://schemas.openxmlformats.org/officeDocument/2006/relationships/slide" Target="slides/slide9.xml"/><Relationship Id="rId19"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microsoft.com/office/2016/11/relationships/changesInfo" Target="changesInfos/changesInfo1.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Vaishnavi Lokhanday" userId="b9d2eb8003a2637e" providerId="LiveId" clId="{E69B9A27-7045-4644-BB8B-0B934D43C4B4}"/>
    <pc:docChg chg="undo custSel addSld delSld modSld">
      <pc:chgData name="Vaishnavi Lokhanday" userId="b9d2eb8003a2637e" providerId="LiveId" clId="{E69B9A27-7045-4644-BB8B-0B934D43C4B4}" dt="2025-06-10T06:54:20.127" v="1247" actId="14734"/>
      <pc:docMkLst>
        <pc:docMk/>
      </pc:docMkLst>
      <pc:sldChg chg="delSp del mod">
        <pc:chgData name="Vaishnavi Lokhanday" userId="b9d2eb8003a2637e" providerId="LiveId" clId="{E69B9A27-7045-4644-BB8B-0B934D43C4B4}" dt="2025-05-22T05:42:49.788" v="2" actId="2696"/>
        <pc:sldMkLst>
          <pc:docMk/>
          <pc:sldMk cId="0" sldId="256"/>
        </pc:sldMkLst>
      </pc:sldChg>
      <pc:sldChg chg="addSp delSp modSp mod">
        <pc:chgData name="Vaishnavi Lokhanday" userId="b9d2eb8003a2637e" providerId="LiveId" clId="{E69B9A27-7045-4644-BB8B-0B934D43C4B4}" dt="2025-05-22T07:49:42.876" v="307" actId="962"/>
        <pc:sldMkLst>
          <pc:docMk/>
          <pc:sldMk cId="0" sldId="257"/>
        </pc:sldMkLst>
        <pc:picChg chg="add mod">
          <ac:chgData name="Vaishnavi Lokhanday" userId="b9d2eb8003a2637e" providerId="LiveId" clId="{E69B9A27-7045-4644-BB8B-0B934D43C4B4}" dt="2025-05-22T07:49:42.876" v="307" actId="962"/>
          <ac:picMkLst>
            <pc:docMk/>
            <pc:sldMk cId="0" sldId="257"/>
            <ac:picMk id="17" creationId="{0DA6FC8A-3ACA-B6EC-F7B4-1C7C1FC4F8C9}"/>
          </ac:picMkLst>
        </pc:picChg>
      </pc:sldChg>
      <pc:sldChg chg="addSp delSp modSp mod modNotesTx">
        <pc:chgData name="Vaishnavi Lokhanday" userId="b9d2eb8003a2637e" providerId="LiveId" clId="{E69B9A27-7045-4644-BB8B-0B934D43C4B4}" dt="2025-06-10T06:54:20.127" v="1247" actId="14734"/>
        <pc:sldMkLst>
          <pc:docMk/>
          <pc:sldMk cId="0" sldId="258"/>
        </pc:sldMkLst>
        <pc:spChg chg="mod">
          <ac:chgData name="Vaishnavi Lokhanday" userId="b9d2eb8003a2637e" providerId="LiveId" clId="{E69B9A27-7045-4644-BB8B-0B934D43C4B4}" dt="2025-05-22T07:58:15.827" v="351" actId="14100"/>
          <ac:spMkLst>
            <pc:docMk/>
            <pc:sldMk cId="0" sldId="258"/>
            <ac:spMk id="2" creationId="{00000000-0000-0000-0000-000000000000}"/>
          </ac:spMkLst>
        </pc:spChg>
        <pc:spChg chg="add mod">
          <ac:chgData name="Vaishnavi Lokhanday" userId="b9d2eb8003a2637e" providerId="LiveId" clId="{E69B9A27-7045-4644-BB8B-0B934D43C4B4}" dt="2025-05-22T05:43:55.239" v="12"/>
          <ac:spMkLst>
            <pc:docMk/>
            <pc:sldMk cId="0" sldId="258"/>
            <ac:spMk id="8" creationId="{5C882D8A-92F1-0F67-50D6-7B09E90D4E40}"/>
          </ac:spMkLst>
        </pc:spChg>
        <pc:graphicFrameChg chg="add mod modGraphic">
          <ac:chgData name="Vaishnavi Lokhanday" userId="b9d2eb8003a2637e" providerId="LiveId" clId="{E69B9A27-7045-4644-BB8B-0B934D43C4B4}" dt="2025-06-10T06:54:20.127" v="1247" actId="14734"/>
          <ac:graphicFrameMkLst>
            <pc:docMk/>
            <pc:sldMk cId="0" sldId="258"/>
            <ac:graphicFrameMk id="9" creationId="{65FBED02-3DEE-E826-8EAD-CBA45D3DE6DD}"/>
          </ac:graphicFrameMkLst>
        </pc:graphicFrameChg>
      </pc:sldChg>
      <pc:sldChg chg="addSp delSp modSp mod">
        <pc:chgData name="Vaishnavi Lokhanday" userId="b9d2eb8003a2637e" providerId="LiveId" clId="{E69B9A27-7045-4644-BB8B-0B934D43C4B4}" dt="2025-05-22T07:25:46.892" v="214" actId="2710"/>
        <pc:sldMkLst>
          <pc:docMk/>
          <pc:sldMk cId="0" sldId="259"/>
        </pc:sldMkLst>
        <pc:spChg chg="mod">
          <ac:chgData name="Vaishnavi Lokhanday" userId="b9d2eb8003a2637e" providerId="LiveId" clId="{E69B9A27-7045-4644-BB8B-0B934D43C4B4}" dt="2025-05-22T07:23:48.849" v="90" actId="14100"/>
          <ac:spMkLst>
            <pc:docMk/>
            <pc:sldMk cId="0" sldId="259"/>
            <ac:spMk id="4" creationId="{00000000-0000-0000-0000-000000000000}"/>
          </ac:spMkLst>
        </pc:spChg>
        <pc:spChg chg="mod">
          <ac:chgData name="Vaishnavi Lokhanday" userId="b9d2eb8003a2637e" providerId="LiveId" clId="{E69B9A27-7045-4644-BB8B-0B934D43C4B4}" dt="2025-05-22T07:25:46.892" v="214" actId="2710"/>
          <ac:spMkLst>
            <pc:docMk/>
            <pc:sldMk cId="0" sldId="259"/>
            <ac:spMk id="6" creationId="{00000000-0000-0000-0000-000000000000}"/>
          </ac:spMkLst>
        </pc:spChg>
        <pc:spChg chg="add mod">
          <ac:chgData name="Vaishnavi Lokhanday" userId="b9d2eb8003a2637e" providerId="LiveId" clId="{E69B9A27-7045-4644-BB8B-0B934D43C4B4}" dt="2025-05-22T05:44:08.072" v="13" actId="1076"/>
          <ac:spMkLst>
            <pc:docMk/>
            <pc:sldMk cId="0" sldId="259"/>
            <ac:spMk id="16" creationId="{11389AB2-DDD9-6665-45E5-51F0BCEDE310}"/>
          </ac:spMkLst>
        </pc:spChg>
      </pc:sldChg>
      <pc:sldChg chg="addSp delSp modSp mod">
        <pc:chgData name="Vaishnavi Lokhanday" userId="b9d2eb8003a2637e" providerId="LiveId" clId="{E69B9A27-7045-4644-BB8B-0B934D43C4B4}" dt="2025-05-22T09:50:06.660" v="1128" actId="1076"/>
        <pc:sldMkLst>
          <pc:docMk/>
          <pc:sldMk cId="0" sldId="260"/>
        </pc:sldMkLst>
        <pc:spChg chg="mod">
          <ac:chgData name="Vaishnavi Lokhanday" userId="b9d2eb8003a2637e" providerId="LiveId" clId="{E69B9A27-7045-4644-BB8B-0B934D43C4B4}" dt="2025-05-22T09:50:06.660" v="1128" actId="1076"/>
          <ac:spMkLst>
            <pc:docMk/>
            <pc:sldMk cId="0" sldId="260"/>
            <ac:spMk id="5" creationId="{00000000-0000-0000-0000-000000000000}"/>
          </ac:spMkLst>
        </pc:spChg>
        <pc:spChg chg="add mod">
          <ac:chgData name="Vaishnavi Lokhanday" userId="b9d2eb8003a2637e" providerId="LiveId" clId="{E69B9A27-7045-4644-BB8B-0B934D43C4B4}" dt="2025-05-22T05:43:50.509" v="10"/>
          <ac:spMkLst>
            <pc:docMk/>
            <pc:sldMk cId="0" sldId="260"/>
            <ac:spMk id="16" creationId="{54F12AA0-6971-49E1-63D7-738723AAB40F}"/>
          </ac:spMkLst>
        </pc:spChg>
      </pc:sldChg>
      <pc:sldChg chg="addSp delSp modSp mod">
        <pc:chgData name="Vaishnavi Lokhanday" userId="b9d2eb8003a2637e" providerId="LiveId" clId="{E69B9A27-7045-4644-BB8B-0B934D43C4B4}" dt="2025-05-22T07:19:28.018" v="69" actId="14100"/>
        <pc:sldMkLst>
          <pc:docMk/>
          <pc:sldMk cId="0" sldId="261"/>
        </pc:sldMkLst>
        <pc:spChg chg="add mod">
          <ac:chgData name="Vaishnavi Lokhanday" userId="b9d2eb8003a2637e" providerId="LiveId" clId="{E69B9A27-7045-4644-BB8B-0B934D43C4B4}" dt="2025-05-22T05:43:48.434" v="9"/>
          <ac:spMkLst>
            <pc:docMk/>
            <pc:sldMk cId="0" sldId="261"/>
            <ac:spMk id="16" creationId="{78D16BF6-412D-B716-664E-549CA51C15D3}"/>
          </ac:spMkLst>
        </pc:spChg>
        <pc:picChg chg="add mod modCrop">
          <ac:chgData name="Vaishnavi Lokhanday" userId="b9d2eb8003a2637e" providerId="LiveId" clId="{E69B9A27-7045-4644-BB8B-0B934D43C4B4}" dt="2025-05-22T07:19:28.018" v="69" actId="14100"/>
          <ac:picMkLst>
            <pc:docMk/>
            <pc:sldMk cId="0" sldId="261"/>
            <ac:picMk id="18" creationId="{BC81DB51-BAA5-783D-FD3C-CCE1B3AD1A0B}"/>
          </ac:picMkLst>
        </pc:picChg>
      </pc:sldChg>
      <pc:sldChg chg="addSp modSp">
        <pc:chgData name="Vaishnavi Lokhanday" userId="b9d2eb8003a2637e" providerId="LiveId" clId="{E69B9A27-7045-4644-BB8B-0B934D43C4B4}" dt="2025-05-22T05:43:44.453" v="8"/>
        <pc:sldMkLst>
          <pc:docMk/>
          <pc:sldMk cId="0" sldId="262"/>
        </pc:sldMkLst>
        <pc:spChg chg="add mod">
          <ac:chgData name="Vaishnavi Lokhanday" userId="b9d2eb8003a2637e" providerId="LiveId" clId="{E69B9A27-7045-4644-BB8B-0B934D43C4B4}" dt="2025-05-22T05:43:44.453" v="8"/>
          <ac:spMkLst>
            <pc:docMk/>
            <pc:sldMk cId="0" sldId="262"/>
            <ac:spMk id="14" creationId="{570ED1A4-DE2C-FBC1-72F6-0288EE55551F}"/>
          </ac:spMkLst>
        </pc:spChg>
      </pc:sldChg>
      <pc:sldChg chg="addSp delSp modSp mod">
        <pc:chgData name="Vaishnavi Lokhanday" userId="b9d2eb8003a2637e" providerId="LiveId" clId="{E69B9A27-7045-4644-BB8B-0B934D43C4B4}" dt="2025-05-22T07:54:56.434" v="347" actId="14100"/>
        <pc:sldMkLst>
          <pc:docMk/>
          <pc:sldMk cId="0" sldId="263"/>
        </pc:sldMkLst>
        <pc:spChg chg="add mod">
          <ac:chgData name="Vaishnavi Lokhanday" userId="b9d2eb8003a2637e" providerId="LiveId" clId="{E69B9A27-7045-4644-BB8B-0B934D43C4B4}" dt="2025-05-22T07:19:57.593" v="70"/>
          <ac:spMkLst>
            <pc:docMk/>
            <pc:sldMk cId="0" sldId="263"/>
            <ac:spMk id="16" creationId="{D732AA1C-1300-E626-DAE5-D00E62F1E3E6}"/>
          </ac:spMkLst>
        </pc:spChg>
        <pc:picChg chg="add mod">
          <ac:chgData name="Vaishnavi Lokhanday" userId="b9d2eb8003a2637e" providerId="LiveId" clId="{E69B9A27-7045-4644-BB8B-0B934D43C4B4}" dt="2025-05-22T07:54:37.179" v="342" actId="14100"/>
          <ac:picMkLst>
            <pc:docMk/>
            <pc:sldMk cId="0" sldId="263"/>
            <ac:picMk id="19" creationId="{BB0E5C8F-8CA7-DC8A-2695-135F3352D9A5}"/>
          </ac:picMkLst>
        </pc:picChg>
        <pc:picChg chg="add mod">
          <ac:chgData name="Vaishnavi Lokhanday" userId="b9d2eb8003a2637e" providerId="LiveId" clId="{E69B9A27-7045-4644-BB8B-0B934D43C4B4}" dt="2025-05-22T07:54:56.434" v="347" actId="14100"/>
          <ac:picMkLst>
            <pc:docMk/>
            <pc:sldMk cId="0" sldId="263"/>
            <ac:picMk id="21" creationId="{1FD0A2CD-4429-640F-B819-E1E29981B5A7}"/>
          </ac:picMkLst>
        </pc:picChg>
        <pc:picChg chg="add mod">
          <ac:chgData name="Vaishnavi Lokhanday" userId="b9d2eb8003a2637e" providerId="LiveId" clId="{E69B9A27-7045-4644-BB8B-0B934D43C4B4}" dt="2025-05-22T07:54:53.245" v="346" actId="14100"/>
          <ac:picMkLst>
            <pc:docMk/>
            <pc:sldMk cId="0" sldId="263"/>
            <ac:picMk id="23" creationId="{6066C6B8-76B5-D57C-B7A0-9D0439F74189}"/>
          </ac:picMkLst>
        </pc:picChg>
        <pc:picChg chg="add mod">
          <ac:chgData name="Vaishnavi Lokhanday" userId="b9d2eb8003a2637e" providerId="LiveId" clId="{E69B9A27-7045-4644-BB8B-0B934D43C4B4}" dt="2025-05-22T07:54:34.189" v="341" actId="14100"/>
          <ac:picMkLst>
            <pc:docMk/>
            <pc:sldMk cId="0" sldId="263"/>
            <ac:picMk id="25" creationId="{AB04EFBB-D657-832B-6363-A1221FB334F8}"/>
          </ac:picMkLst>
        </pc:picChg>
      </pc:sldChg>
      <pc:sldChg chg="addSp delSp modSp mod">
        <pc:chgData name="Vaishnavi Lokhanday" userId="b9d2eb8003a2637e" providerId="LiveId" clId="{E69B9A27-7045-4644-BB8B-0B934D43C4B4}" dt="2025-05-22T08:29:59.549" v="782" actId="20577"/>
        <pc:sldMkLst>
          <pc:docMk/>
          <pc:sldMk cId="0" sldId="264"/>
        </pc:sldMkLst>
        <pc:spChg chg="mod">
          <ac:chgData name="Vaishnavi Lokhanday" userId="b9d2eb8003a2637e" providerId="LiveId" clId="{E69B9A27-7045-4644-BB8B-0B934D43C4B4}" dt="2025-05-22T08:29:46.517" v="774" actId="20577"/>
          <ac:spMkLst>
            <pc:docMk/>
            <pc:sldMk cId="0" sldId="264"/>
            <ac:spMk id="3" creationId="{00000000-0000-0000-0000-000000000000}"/>
          </ac:spMkLst>
        </pc:spChg>
        <pc:spChg chg="mod">
          <ac:chgData name="Vaishnavi Lokhanday" userId="b9d2eb8003a2637e" providerId="LiveId" clId="{E69B9A27-7045-4644-BB8B-0B934D43C4B4}" dt="2025-05-22T08:29:59.549" v="782" actId="20577"/>
          <ac:spMkLst>
            <pc:docMk/>
            <pc:sldMk cId="0" sldId="264"/>
            <ac:spMk id="4" creationId="{00000000-0000-0000-0000-000000000000}"/>
          </ac:spMkLst>
        </pc:spChg>
        <pc:spChg chg="add mod">
          <ac:chgData name="Vaishnavi Lokhanday" userId="b9d2eb8003a2637e" providerId="LiveId" clId="{E69B9A27-7045-4644-BB8B-0B934D43C4B4}" dt="2025-05-22T05:43:41.028" v="7"/>
          <ac:spMkLst>
            <pc:docMk/>
            <pc:sldMk cId="0" sldId="264"/>
            <ac:spMk id="6" creationId="{8E3BEB28-143A-8067-CF6B-9377FC374BCD}"/>
          </ac:spMkLst>
        </pc:spChg>
      </pc:sldChg>
      <pc:sldChg chg="addSp delSp modSp mod">
        <pc:chgData name="Vaishnavi Lokhanday" userId="b9d2eb8003a2637e" providerId="LiveId" clId="{E69B9A27-7045-4644-BB8B-0B934D43C4B4}" dt="2025-05-22T09:47:00.540" v="1071" actId="114"/>
        <pc:sldMkLst>
          <pc:docMk/>
          <pc:sldMk cId="0" sldId="265"/>
        </pc:sldMkLst>
        <pc:spChg chg="mod">
          <ac:chgData name="Vaishnavi Lokhanday" userId="b9d2eb8003a2637e" providerId="LiveId" clId="{E69B9A27-7045-4644-BB8B-0B934D43C4B4}" dt="2025-05-22T09:21:28.938" v="914" actId="1076"/>
          <ac:spMkLst>
            <pc:docMk/>
            <pc:sldMk cId="0" sldId="265"/>
            <ac:spMk id="2" creationId="{00000000-0000-0000-0000-000000000000}"/>
          </ac:spMkLst>
        </pc:spChg>
        <pc:spChg chg="mod">
          <ac:chgData name="Vaishnavi Lokhanday" userId="b9d2eb8003a2637e" providerId="LiveId" clId="{E69B9A27-7045-4644-BB8B-0B934D43C4B4}" dt="2025-05-22T09:21:34.022" v="915" actId="1076"/>
          <ac:spMkLst>
            <pc:docMk/>
            <pc:sldMk cId="0" sldId="265"/>
            <ac:spMk id="3" creationId="{00000000-0000-0000-0000-000000000000}"/>
          </ac:spMkLst>
        </pc:spChg>
        <pc:spChg chg="mod">
          <ac:chgData name="Vaishnavi Lokhanday" userId="b9d2eb8003a2637e" providerId="LiveId" clId="{E69B9A27-7045-4644-BB8B-0B934D43C4B4}" dt="2025-05-22T09:21:38.071" v="916" actId="1076"/>
          <ac:spMkLst>
            <pc:docMk/>
            <pc:sldMk cId="0" sldId="265"/>
            <ac:spMk id="4" creationId="{00000000-0000-0000-0000-000000000000}"/>
          </ac:spMkLst>
        </pc:spChg>
        <pc:spChg chg="mod">
          <ac:chgData name="Vaishnavi Lokhanday" userId="b9d2eb8003a2637e" providerId="LiveId" clId="{E69B9A27-7045-4644-BB8B-0B934D43C4B4}" dt="2025-05-22T09:21:42.600" v="917" actId="1076"/>
          <ac:spMkLst>
            <pc:docMk/>
            <pc:sldMk cId="0" sldId="265"/>
            <ac:spMk id="5" creationId="{00000000-0000-0000-0000-000000000000}"/>
          </ac:spMkLst>
        </pc:spChg>
        <pc:spChg chg="mod">
          <ac:chgData name="Vaishnavi Lokhanday" userId="b9d2eb8003a2637e" providerId="LiveId" clId="{E69B9A27-7045-4644-BB8B-0B934D43C4B4}" dt="2025-05-22T09:21:48.874" v="918" actId="1076"/>
          <ac:spMkLst>
            <pc:docMk/>
            <pc:sldMk cId="0" sldId="265"/>
            <ac:spMk id="6" creationId="{00000000-0000-0000-0000-000000000000}"/>
          </ac:spMkLst>
        </pc:spChg>
        <pc:spChg chg="add mod">
          <ac:chgData name="Vaishnavi Lokhanday" userId="b9d2eb8003a2637e" providerId="LiveId" clId="{E69B9A27-7045-4644-BB8B-0B934D43C4B4}" dt="2025-05-22T05:43:34.225" v="6"/>
          <ac:spMkLst>
            <pc:docMk/>
            <pc:sldMk cId="0" sldId="265"/>
            <ac:spMk id="8" creationId="{189C8FBA-59A9-35B7-58D7-DCA2E653BAB8}"/>
          </ac:spMkLst>
        </pc:spChg>
        <pc:spChg chg="add mod">
          <ac:chgData name="Vaishnavi Lokhanday" userId="b9d2eb8003a2637e" providerId="LiveId" clId="{E69B9A27-7045-4644-BB8B-0B934D43C4B4}" dt="2025-05-22T09:21:54.932" v="919" actId="1076"/>
          <ac:spMkLst>
            <pc:docMk/>
            <pc:sldMk cId="0" sldId="265"/>
            <ac:spMk id="11" creationId="{FFC80987-CCE9-F4DC-AAC7-8160DA021E39}"/>
          </ac:spMkLst>
        </pc:spChg>
        <pc:spChg chg="add mod">
          <ac:chgData name="Vaishnavi Lokhanday" userId="b9d2eb8003a2637e" providerId="LiveId" clId="{E69B9A27-7045-4644-BB8B-0B934D43C4B4}" dt="2025-05-22T09:47:00.540" v="1071" actId="114"/>
          <ac:spMkLst>
            <pc:docMk/>
            <pc:sldMk cId="0" sldId="265"/>
            <ac:spMk id="17" creationId="{D7490BE2-DC20-B7BC-7481-A471F516211A}"/>
          </ac:spMkLst>
        </pc:spChg>
      </pc:sldChg>
      <pc:sldChg chg="addSp delSp modSp add mod">
        <pc:chgData name="Vaishnavi Lokhanday" userId="b9d2eb8003a2637e" providerId="LiveId" clId="{E69B9A27-7045-4644-BB8B-0B934D43C4B4}" dt="2025-06-09T08:10:19.383" v="1246" actId="20577"/>
        <pc:sldMkLst>
          <pc:docMk/>
          <pc:sldMk cId="0" sldId="266"/>
        </pc:sldMkLst>
        <pc:spChg chg="mod">
          <ac:chgData name="Vaishnavi Lokhanday" userId="b9d2eb8003a2637e" providerId="LiveId" clId="{E69B9A27-7045-4644-BB8B-0B934D43C4B4}" dt="2025-05-22T09:11:56.581" v="809" actId="20577"/>
          <ac:spMkLst>
            <pc:docMk/>
            <pc:sldMk cId="0" sldId="266"/>
            <ac:spMk id="3" creationId="{00000000-0000-0000-0000-000000000000}"/>
          </ac:spMkLst>
        </pc:spChg>
        <pc:spChg chg="mod">
          <ac:chgData name="Vaishnavi Lokhanday" userId="b9d2eb8003a2637e" providerId="LiveId" clId="{E69B9A27-7045-4644-BB8B-0B934D43C4B4}" dt="2025-06-09T08:10:19.383" v="1246" actId="20577"/>
          <ac:spMkLst>
            <pc:docMk/>
            <pc:sldMk cId="0" sldId="266"/>
            <ac:spMk id="6" creationId="{00000000-0000-0000-0000-000000000000}"/>
          </ac:spMkLst>
        </pc:spChg>
        <pc:picChg chg="mod">
          <ac:chgData name="Vaishnavi Lokhanday" userId="b9d2eb8003a2637e" providerId="LiveId" clId="{E69B9A27-7045-4644-BB8B-0B934D43C4B4}" dt="2025-05-22T08:31:58.108" v="786" actId="14100"/>
          <ac:picMkLst>
            <pc:docMk/>
            <pc:sldMk cId="0" sldId="266"/>
            <ac:picMk id="8" creationId="{5D397FC1-6D1E-1322-E5EA-7BE4A71AA1D0}"/>
          </ac:picMkLst>
        </pc:picChg>
        <pc:picChg chg="add mod">
          <ac:chgData name="Vaishnavi Lokhanday" userId="b9d2eb8003a2637e" providerId="LiveId" clId="{E69B9A27-7045-4644-BB8B-0B934D43C4B4}" dt="2025-05-22T07:20:36.793" v="75" actId="962"/>
          <ac:picMkLst>
            <pc:docMk/>
            <pc:sldMk cId="0" sldId="266"/>
            <ac:picMk id="9" creationId="{5C121FC1-CDB4-A997-406A-BB7700DAD65E}"/>
          </ac:picMkLst>
        </pc:picChg>
      </pc:sldChg>
      <pc:sldChg chg="modSp add mod">
        <pc:chgData name="Vaishnavi Lokhanday" userId="b9d2eb8003a2637e" providerId="LiveId" clId="{E69B9A27-7045-4644-BB8B-0B934D43C4B4}" dt="2025-05-22T05:43:30.843" v="5" actId="1035"/>
        <pc:sldMkLst>
          <pc:docMk/>
          <pc:sldMk cId="0" sldId="267"/>
        </pc:sldMkLst>
        <pc:spChg chg="mod">
          <ac:chgData name="Vaishnavi Lokhanday" userId="b9d2eb8003a2637e" providerId="LiveId" clId="{E69B9A27-7045-4644-BB8B-0B934D43C4B4}" dt="2025-05-22T05:43:30.843" v="5" actId="1035"/>
          <ac:spMkLst>
            <pc:docMk/>
            <pc:sldMk cId="0" sldId="267"/>
            <ac:spMk id="5" creationId="{82977968-E63E-683F-4D44-7AFB2A51062E}"/>
          </ac:spMkLst>
        </pc:spChg>
      </pc:sldChg>
      <pc:sldChg chg="modSp add mod">
        <pc:chgData name="Vaishnavi Lokhanday" userId="b9d2eb8003a2637e" providerId="LiveId" clId="{E69B9A27-7045-4644-BB8B-0B934D43C4B4}" dt="2025-05-22T09:52:40.434" v="1152" actId="20577"/>
        <pc:sldMkLst>
          <pc:docMk/>
          <pc:sldMk cId="208234304" sldId="268"/>
        </pc:sldMkLst>
        <pc:graphicFrameChg chg="mod modGraphic">
          <ac:chgData name="Vaishnavi Lokhanday" userId="b9d2eb8003a2637e" providerId="LiveId" clId="{E69B9A27-7045-4644-BB8B-0B934D43C4B4}" dt="2025-05-22T09:52:40.434" v="1152" actId="20577"/>
          <ac:graphicFrameMkLst>
            <pc:docMk/>
            <pc:sldMk cId="208234304" sldId="268"/>
            <ac:graphicFrameMk id="9" creationId="{0992C83F-2C3D-C6E6-AAA6-2CA556EFBEF7}"/>
          </ac:graphicFrameMkLst>
        </pc:graphicFrameChg>
      </pc:sldChg>
      <pc:sldChg chg="add del">
        <pc:chgData name="Vaishnavi Lokhanday" userId="b9d2eb8003a2637e" providerId="LiveId" clId="{E69B9A27-7045-4644-BB8B-0B934D43C4B4}" dt="2025-05-22T07:58:38.837" v="357" actId="47"/>
        <pc:sldMkLst>
          <pc:docMk/>
          <pc:sldMk cId="1077573336" sldId="268"/>
        </pc:sldMkLst>
      </pc:sldChg>
      <pc:sldChg chg="add del">
        <pc:chgData name="Vaishnavi Lokhanday" userId="b9d2eb8003a2637e" providerId="LiveId" clId="{E69B9A27-7045-4644-BB8B-0B934D43C4B4}" dt="2025-05-22T07:58:48.700" v="359" actId="47"/>
        <pc:sldMkLst>
          <pc:docMk/>
          <pc:sldMk cId="2846780634" sldId="268"/>
        </pc:sldMkLst>
      </pc:sldChg>
      <pc:sldChg chg="modSp add mod">
        <pc:chgData name="Vaishnavi Lokhanday" userId="b9d2eb8003a2637e" providerId="LiveId" clId="{E69B9A27-7045-4644-BB8B-0B934D43C4B4}" dt="2025-05-22T09:52:48.040" v="1160" actId="20577"/>
        <pc:sldMkLst>
          <pc:docMk/>
          <pc:sldMk cId="294180867" sldId="269"/>
        </pc:sldMkLst>
        <pc:graphicFrameChg chg="mod modGraphic">
          <ac:chgData name="Vaishnavi Lokhanday" userId="b9d2eb8003a2637e" providerId="LiveId" clId="{E69B9A27-7045-4644-BB8B-0B934D43C4B4}" dt="2025-05-22T09:52:48.040" v="1160" actId="20577"/>
          <ac:graphicFrameMkLst>
            <pc:docMk/>
            <pc:sldMk cId="294180867" sldId="269"/>
            <ac:graphicFrameMk id="9" creationId="{880D3F59-97A2-FAF5-80CD-FEFB2A8FB76E}"/>
          </ac:graphicFrameMkLst>
        </pc:graphicFrameChg>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2536889906"/>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PCA – Principle Component Analysis is used to reduce the complexity of the facial data. It's a statistical method, but it’s not as accurate or robust as modern deep learning approaches.</a:t>
            </a:r>
          </a:p>
          <a:p>
            <a:r>
              <a:rPr lang="en-US" dirty="0"/>
              <a:t>API – Application Programming Interface</a:t>
            </a:r>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4FEA2C6-1D36-FB9F-188D-F4E4AF4CEFB1}"/>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887E1B29-0167-39DE-74C2-325B03C2BDD7}"/>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308E2F92-F70C-783B-1967-70980D04636A}"/>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A2EBF007-A371-057A-692A-AC81A09529ED}"/>
              </a:ext>
            </a:extLst>
          </p:cNvPr>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2231509703"/>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4C640BC-0790-693B-D956-DD3A026318E4}"/>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AB21C5BF-E160-B112-9134-E67DFE97C842}"/>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164CACD7-A0F2-5BDD-2ABC-95164DA5CD6D}"/>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7DE8C8E2-E532-12BC-B6E9-C0074F44BB96}"/>
              </a:ext>
            </a:extLst>
          </p:cNvPr>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330932143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3" Type="http://schemas.openxmlformats.org/officeDocument/2006/relationships/hyperlink" Target="https://gamma.app/?utm_source=made-with-gamma" TargetMode="External"/><Relationship Id="rId2" Type="http://schemas.openxmlformats.org/officeDocument/2006/relationships/image" Target="../media/image1.png"/><Relationship Id="rId1" Type="http://schemas.openxmlformats.org/officeDocument/2006/relationships/slideMaster" Target="../slideMasters/slideMaster1.xml"/><Relationship Id="rId4" Type="http://schemas.openxmlformats.org/officeDocument/2006/relationships/image" Target="../media/image2.png"/></Relationships>
</file>

<file path=ppt/slideLayouts/_rels/slideLayout3.xml.rels><?xml version="1.0" encoding="UTF-8" standalone="yes"?>
<Relationships xmlns="http://schemas.openxmlformats.org/package/2006/relationships"><Relationship Id="rId3" Type="http://schemas.openxmlformats.org/officeDocument/2006/relationships/hyperlink" Target="https://gamma.app/?utm_source=made-with-gamma" TargetMode="External"/><Relationship Id="rId2" Type="http://schemas.openxmlformats.org/officeDocument/2006/relationships/image" Target="../media/image1.png"/><Relationship Id="rId1" Type="http://schemas.openxmlformats.org/officeDocument/2006/relationships/slideMaster" Target="../slideMasters/slideMaster1.xml"/><Relationship Id="rId4" Type="http://schemas.openxmlformats.org/officeDocument/2006/relationships/image" Target="../media/image2.png"/></Relationships>
</file>

<file path=ppt/slideLayouts/_rels/slideLayout4.xml.rels><?xml version="1.0" encoding="UTF-8" standalone="yes"?>
<Relationships xmlns="http://schemas.openxmlformats.org/package/2006/relationships"><Relationship Id="rId3" Type="http://schemas.openxmlformats.org/officeDocument/2006/relationships/hyperlink" Target="https://gamma.app/?utm_source=made-with-gamma" TargetMode="External"/><Relationship Id="rId2" Type="http://schemas.openxmlformats.org/officeDocument/2006/relationships/image" Target="../media/image1.png"/><Relationship Id="rId1" Type="http://schemas.openxmlformats.org/officeDocument/2006/relationships/slideMaster" Target="../slideMasters/slideMaster1.xml"/><Relationship Id="rId4" Type="http://schemas.openxmlformats.org/officeDocument/2006/relationships/image" Target="../media/image2.png"/></Relationships>
</file>

<file path=ppt/slideLayouts/_rels/slideLayout5.xml.rels><?xml version="1.0" encoding="UTF-8" standalone="yes"?>
<Relationships xmlns="http://schemas.openxmlformats.org/package/2006/relationships"><Relationship Id="rId3" Type="http://schemas.openxmlformats.org/officeDocument/2006/relationships/hyperlink" Target="https://gamma.app/?utm_source=made-with-gamma" TargetMode="External"/><Relationship Id="rId2" Type="http://schemas.openxmlformats.org/officeDocument/2006/relationships/image" Target="../media/image1.png"/><Relationship Id="rId1" Type="http://schemas.openxmlformats.org/officeDocument/2006/relationships/slideMaster" Target="../slideMasters/slideMaster1.xml"/><Relationship Id="rId4" Type="http://schemas.openxmlformats.org/officeDocument/2006/relationships/image" Target="../media/image2.png"/></Relationships>
</file>

<file path=ppt/slideLayouts/_rels/slideLayout6.xml.rels><?xml version="1.0" encoding="UTF-8" standalone="yes"?>
<Relationships xmlns="http://schemas.openxmlformats.org/package/2006/relationships"><Relationship Id="rId3" Type="http://schemas.openxmlformats.org/officeDocument/2006/relationships/hyperlink" Target="https://gamma.app/?utm_source=made-with-gamma" TargetMode="External"/><Relationship Id="rId2" Type="http://schemas.openxmlformats.org/officeDocument/2006/relationships/image" Target="../media/image1.png"/><Relationship Id="rId1" Type="http://schemas.openxmlformats.org/officeDocument/2006/relationships/slideMaster" Target="../slideMasters/slideMaster1.xml"/><Relationship Id="rId4" Type="http://schemas.openxmlformats.org/officeDocument/2006/relationships/image" Target="../media/image2.png"/></Relationships>
</file>

<file path=ppt/slideLayouts/_rels/slideLayout7.xml.rels><?xml version="1.0" encoding="UTF-8" standalone="yes"?>
<Relationships xmlns="http://schemas.openxmlformats.org/package/2006/relationships"><Relationship Id="rId3" Type="http://schemas.openxmlformats.org/officeDocument/2006/relationships/hyperlink" Target="https://gamma.app/?utm_source=made-with-gamma" TargetMode="External"/><Relationship Id="rId2" Type="http://schemas.openxmlformats.org/officeDocument/2006/relationships/image" Target="../media/image1.png"/><Relationship Id="rId1" Type="http://schemas.openxmlformats.org/officeDocument/2006/relationships/slideMaster" Target="../slideMasters/slideMaster1.xml"/><Relationship Id="rId4" Type="http://schemas.openxmlformats.org/officeDocument/2006/relationships/image" Target="../media/image2.png"/></Relationships>
</file>

<file path=ppt/slideLayouts/_rels/slideLayout8.xml.rels><?xml version="1.0" encoding="UTF-8" standalone="yes"?>
<Relationships xmlns="http://schemas.openxmlformats.org/package/2006/relationships"><Relationship Id="rId3" Type="http://schemas.openxmlformats.org/officeDocument/2006/relationships/hyperlink" Target="https://gamma.app/?utm_source=made-with-gamma" TargetMode="External"/><Relationship Id="rId2" Type="http://schemas.openxmlformats.org/officeDocument/2006/relationships/image" Target="../media/image1.png"/><Relationship Id="rId1" Type="http://schemas.openxmlformats.org/officeDocument/2006/relationships/slideMaster" Target="../slideMasters/slideMaster1.xml"/><Relationship Id="rId4" Type="http://schemas.openxmlformats.org/officeDocument/2006/relationships/image" Target="../media/image2.png"/></Relationships>
</file>

<file path=ppt/slideLayouts/_rels/slideLayout9.xml.rels><?xml version="1.0" encoding="UTF-8" standalone="yes"?>
<Relationships xmlns="http://schemas.openxmlformats.org/package/2006/relationships"><Relationship Id="rId3" Type="http://schemas.openxmlformats.org/officeDocument/2006/relationships/hyperlink" Target="https://gamma.app/?utm_source=made-with-gamma" TargetMode="External"/><Relationship Id="rId2" Type="http://schemas.openxmlformats.org/officeDocument/2006/relationships/image" Target="../media/image1.png"/><Relationship Id="rId1" Type="http://schemas.openxmlformats.org/officeDocument/2006/relationships/slideMaster" Target="../slideMasters/slideMaster1.xml"/><Relationship Id="rId4" Type="http://schemas.openxmlformats.org/officeDocument/2006/relationships/image" Target="../media/image2.png"/></Relationships>
</file>

<file path=ppt/slideLayouts/_rels/slideLayout10.xml.rels><?xml version="1.0" encoding="UTF-8" standalone="yes"?>
<Relationships xmlns="http://schemas.openxmlformats.org/package/2006/relationships"><Relationship Id="rId3" Type="http://schemas.openxmlformats.org/officeDocument/2006/relationships/hyperlink" Target="https://gamma.app/?utm_source=made-with-gamma" TargetMode="External"/><Relationship Id="rId2" Type="http://schemas.openxmlformats.org/officeDocument/2006/relationships/image" Target="../media/image1.png"/><Relationship Id="rId1" Type="http://schemas.openxmlformats.org/officeDocument/2006/relationships/slideMaster" Target="../slideMasters/slideMaster1.xml"/><Relationship Id="rId4" Type="http://schemas.openxmlformats.org/officeDocument/2006/relationships/image" Target="../media/image2.png"/></Relationships>
</file>

<file path=ppt/slideLayouts/_rels/slideLayout11.xml.rels><?xml version="1.0" encoding="UTF-8" standalone="yes"?>
<Relationships xmlns="http://schemas.openxmlformats.org/package/2006/relationships"><Relationship Id="rId3" Type="http://schemas.openxmlformats.org/officeDocument/2006/relationships/hyperlink" Target="https://gamma.app/?utm_source=made-with-gamma" TargetMode="External"/><Relationship Id="rId2" Type="http://schemas.openxmlformats.org/officeDocument/2006/relationships/image" Target="../media/image1.png"/><Relationship Id="rId1" Type="http://schemas.openxmlformats.org/officeDocument/2006/relationships/slideMaster" Target="../slideMasters/slideMaster1.xml"/><Relationship Id="rId4" Type="http://schemas.openxmlformats.org/officeDocument/2006/relationships/image" Target="../media/image2.png"/></Relationships>
</file>

<file path=ppt/slideLayouts/_rels/slideLayout12.xml.rels><?xml version="1.0" encoding="UTF-8" standalone="yes"?>
<Relationships xmlns="http://schemas.openxmlformats.org/package/2006/relationships"><Relationship Id="rId3" Type="http://schemas.openxmlformats.org/officeDocument/2006/relationships/hyperlink" Target="https://gamma.app/?utm_source=made-with-gamma" TargetMode="External"/><Relationship Id="rId2" Type="http://schemas.openxmlformats.org/officeDocument/2006/relationships/image" Target="../media/image1.png"/><Relationship Id="rId1" Type="http://schemas.openxmlformats.org/officeDocument/2006/relationships/slideMaster" Target="../slideMasters/slideMaster1.xml"/><Relationship Id="rId4" Type="http://schemas.openxmlformats.org/officeDocument/2006/relationships/image" Target="../media/image2.png"/></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Slide 1 master">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2"/>
          <a:stretch>
            <a:fillRect/>
          </a:stretch>
        </p:blipFill>
        <p:spPr>
          <a:xfrm>
            <a:off x="0" y="0"/>
            <a:ext cx="14630400" cy="8229600"/>
          </a:xfrm>
          <a:prstGeom prst="rect">
            <a:avLst/>
          </a:prstGeom>
        </p:spPr>
      </p:pic>
      <p:sp>
        <p:nvSpPr>
          <p:cNvPr id="3" name="Shape 0"/>
          <p:cNvSpPr/>
          <p:nvPr/>
        </p:nvSpPr>
        <p:spPr>
          <a:xfrm>
            <a:off x="0" y="0"/>
            <a:ext cx="14630400" cy="8229600"/>
          </a:xfrm>
          <a:prstGeom prst="rect">
            <a:avLst/>
          </a:prstGeom>
          <a:solidFill>
            <a:srgbClr val="09151A">
              <a:alpha val="95000"/>
            </a:srgbClr>
          </a:solidFill>
          <a:ln/>
        </p:spPr>
      </p:sp>
      <p:pic>
        <p:nvPicPr>
          <p:cNvPr id="4" name="Image 1" descr="preencoded.png">
            <a:hlinkClick r:id="rId3"/>
          </p:cNvPr>
          <p:cNvPicPr>
            <a:picLocks noChangeAspect="1"/>
          </p:cNvPicPr>
          <p:nvPr/>
        </p:nvPicPr>
        <p:blipFill>
          <a:blip r:embed="rId4"/>
          <a:stretch>
            <a:fillRect/>
          </a:stretch>
        </p:blipFill>
        <p:spPr>
          <a:xfrm>
            <a:off x="12839215" y="7749540"/>
            <a:ext cx="1722605" cy="411480"/>
          </a:xfrm>
          <a:prstGeom prst="rect">
            <a:avLst/>
          </a:prstGeom>
        </p:spPr>
      </p:pic>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Slide 2 master">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2"/>
          <a:stretch>
            <a:fillRect/>
          </a:stretch>
        </p:blipFill>
        <p:spPr>
          <a:xfrm>
            <a:off x="0" y="0"/>
            <a:ext cx="14630400" cy="8229600"/>
          </a:xfrm>
          <a:prstGeom prst="rect">
            <a:avLst/>
          </a:prstGeom>
        </p:spPr>
      </p:pic>
      <p:sp>
        <p:nvSpPr>
          <p:cNvPr id="3" name="Shape 0"/>
          <p:cNvSpPr/>
          <p:nvPr/>
        </p:nvSpPr>
        <p:spPr>
          <a:xfrm>
            <a:off x="0" y="0"/>
            <a:ext cx="14630400" cy="8229600"/>
          </a:xfrm>
          <a:prstGeom prst="rect">
            <a:avLst/>
          </a:prstGeom>
          <a:solidFill>
            <a:srgbClr val="09151A">
              <a:alpha val="95000"/>
            </a:srgbClr>
          </a:solidFill>
          <a:ln/>
        </p:spPr>
      </p:sp>
      <p:pic>
        <p:nvPicPr>
          <p:cNvPr id="4" name="Image 1" descr="preencoded.png">
            <a:hlinkClick r:id="rId3"/>
          </p:cNvPr>
          <p:cNvPicPr>
            <a:picLocks noChangeAspect="1"/>
          </p:cNvPicPr>
          <p:nvPr/>
        </p:nvPicPr>
        <p:blipFill>
          <a:blip r:embed="rId4"/>
          <a:stretch>
            <a:fillRect/>
          </a:stretch>
        </p:blipFill>
        <p:spPr>
          <a:xfrm>
            <a:off x="12839215" y="7749540"/>
            <a:ext cx="1722605" cy="411480"/>
          </a:xfrm>
          <a:prstGeom prst="rect">
            <a:avLst/>
          </a:prstGeom>
        </p:spPr>
      </p:pic>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Slide 3 master">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2"/>
          <a:stretch>
            <a:fillRect/>
          </a:stretch>
        </p:blipFill>
        <p:spPr>
          <a:xfrm>
            <a:off x="0" y="0"/>
            <a:ext cx="14630400" cy="8229600"/>
          </a:xfrm>
          <a:prstGeom prst="rect">
            <a:avLst/>
          </a:prstGeom>
        </p:spPr>
      </p:pic>
      <p:sp>
        <p:nvSpPr>
          <p:cNvPr id="3" name="Shape 0"/>
          <p:cNvSpPr/>
          <p:nvPr/>
        </p:nvSpPr>
        <p:spPr>
          <a:xfrm>
            <a:off x="0" y="0"/>
            <a:ext cx="14630400" cy="8229600"/>
          </a:xfrm>
          <a:prstGeom prst="rect">
            <a:avLst/>
          </a:prstGeom>
          <a:solidFill>
            <a:srgbClr val="09151A">
              <a:alpha val="95000"/>
            </a:srgbClr>
          </a:solidFill>
          <a:ln/>
        </p:spPr>
      </p:sp>
      <p:pic>
        <p:nvPicPr>
          <p:cNvPr id="4" name="Image 1" descr="preencoded.png">
            <a:hlinkClick r:id="rId3"/>
          </p:cNvPr>
          <p:cNvPicPr>
            <a:picLocks noChangeAspect="1"/>
          </p:cNvPicPr>
          <p:nvPr/>
        </p:nvPicPr>
        <p:blipFill>
          <a:blip r:embed="rId4"/>
          <a:stretch>
            <a:fillRect/>
          </a:stretch>
        </p:blipFill>
        <p:spPr>
          <a:xfrm>
            <a:off x="12839215" y="7749540"/>
            <a:ext cx="1722605" cy="411480"/>
          </a:xfrm>
          <a:prstGeom prst="rect">
            <a:avLst/>
          </a:prstGeom>
        </p:spPr>
      </p:pic>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p:cSld name="Slide 4 master">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2"/>
          <a:stretch>
            <a:fillRect/>
          </a:stretch>
        </p:blipFill>
        <p:spPr>
          <a:xfrm>
            <a:off x="0" y="0"/>
            <a:ext cx="14630400" cy="8229600"/>
          </a:xfrm>
          <a:prstGeom prst="rect">
            <a:avLst/>
          </a:prstGeom>
        </p:spPr>
      </p:pic>
      <p:sp>
        <p:nvSpPr>
          <p:cNvPr id="3" name="Shape 0"/>
          <p:cNvSpPr/>
          <p:nvPr/>
        </p:nvSpPr>
        <p:spPr>
          <a:xfrm>
            <a:off x="0" y="0"/>
            <a:ext cx="14630400" cy="8229600"/>
          </a:xfrm>
          <a:prstGeom prst="rect">
            <a:avLst/>
          </a:prstGeom>
          <a:solidFill>
            <a:srgbClr val="09151A">
              <a:alpha val="95000"/>
            </a:srgbClr>
          </a:solidFill>
          <a:ln/>
        </p:spPr>
      </p:sp>
      <p:pic>
        <p:nvPicPr>
          <p:cNvPr id="4" name="Image 1" descr="preencoded.png">
            <a:hlinkClick r:id="rId3"/>
          </p:cNvPr>
          <p:cNvPicPr>
            <a:picLocks noChangeAspect="1"/>
          </p:cNvPicPr>
          <p:nvPr/>
        </p:nvPicPr>
        <p:blipFill>
          <a:blip r:embed="rId4"/>
          <a:stretch>
            <a:fillRect/>
          </a:stretch>
        </p:blipFill>
        <p:spPr>
          <a:xfrm>
            <a:off x="12839215" y="7749540"/>
            <a:ext cx="1722605" cy="411480"/>
          </a:xfrm>
          <a:prstGeom prst="rect">
            <a:avLst/>
          </a:prstGeom>
        </p:spPr>
      </p:pic>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p:cSld name="Slide 5 master">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2"/>
          <a:stretch>
            <a:fillRect/>
          </a:stretch>
        </p:blipFill>
        <p:spPr>
          <a:xfrm>
            <a:off x="0" y="0"/>
            <a:ext cx="14630400" cy="8229600"/>
          </a:xfrm>
          <a:prstGeom prst="rect">
            <a:avLst/>
          </a:prstGeom>
        </p:spPr>
      </p:pic>
      <p:sp>
        <p:nvSpPr>
          <p:cNvPr id="3" name="Shape 0"/>
          <p:cNvSpPr/>
          <p:nvPr/>
        </p:nvSpPr>
        <p:spPr>
          <a:xfrm>
            <a:off x="0" y="0"/>
            <a:ext cx="14630400" cy="8229600"/>
          </a:xfrm>
          <a:prstGeom prst="rect">
            <a:avLst/>
          </a:prstGeom>
          <a:solidFill>
            <a:srgbClr val="09151A">
              <a:alpha val="95000"/>
            </a:srgbClr>
          </a:solidFill>
          <a:ln/>
        </p:spPr>
      </p:sp>
      <p:pic>
        <p:nvPicPr>
          <p:cNvPr id="4" name="Image 1" descr="preencoded.png">
            <a:hlinkClick r:id="rId3"/>
          </p:cNvPr>
          <p:cNvPicPr>
            <a:picLocks noChangeAspect="1"/>
          </p:cNvPicPr>
          <p:nvPr/>
        </p:nvPicPr>
        <p:blipFill>
          <a:blip r:embed="rId4"/>
          <a:stretch>
            <a:fillRect/>
          </a:stretch>
        </p:blipFill>
        <p:spPr>
          <a:xfrm>
            <a:off x="12839215" y="7749540"/>
            <a:ext cx="1722605" cy="411480"/>
          </a:xfrm>
          <a:prstGeom prst="rect">
            <a:avLst/>
          </a:prstGeom>
        </p:spPr>
      </p:pic>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p:cSld name="Slide 6 master">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2"/>
          <a:stretch>
            <a:fillRect/>
          </a:stretch>
        </p:blipFill>
        <p:spPr>
          <a:xfrm>
            <a:off x="0" y="0"/>
            <a:ext cx="14630400" cy="8229600"/>
          </a:xfrm>
          <a:prstGeom prst="rect">
            <a:avLst/>
          </a:prstGeom>
        </p:spPr>
      </p:pic>
      <p:sp>
        <p:nvSpPr>
          <p:cNvPr id="3" name="Shape 0"/>
          <p:cNvSpPr/>
          <p:nvPr/>
        </p:nvSpPr>
        <p:spPr>
          <a:xfrm>
            <a:off x="0" y="0"/>
            <a:ext cx="14630400" cy="8229600"/>
          </a:xfrm>
          <a:prstGeom prst="rect">
            <a:avLst/>
          </a:prstGeom>
          <a:solidFill>
            <a:srgbClr val="09151A">
              <a:alpha val="95000"/>
            </a:srgbClr>
          </a:solidFill>
          <a:ln/>
        </p:spPr>
      </p:sp>
      <p:pic>
        <p:nvPicPr>
          <p:cNvPr id="4" name="Image 1" descr="preencoded.png">
            <a:hlinkClick r:id="rId3"/>
          </p:cNvPr>
          <p:cNvPicPr>
            <a:picLocks noChangeAspect="1"/>
          </p:cNvPicPr>
          <p:nvPr/>
        </p:nvPicPr>
        <p:blipFill>
          <a:blip r:embed="rId4"/>
          <a:stretch>
            <a:fillRect/>
          </a:stretch>
        </p:blipFill>
        <p:spPr>
          <a:xfrm>
            <a:off x="12839215" y="7749540"/>
            <a:ext cx="1722605" cy="411480"/>
          </a:xfrm>
          <a:prstGeom prst="rect">
            <a:avLst/>
          </a:prstGeom>
        </p:spPr>
      </p:pic>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p:cSld name="Slide 7 master">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2"/>
          <a:stretch>
            <a:fillRect/>
          </a:stretch>
        </p:blipFill>
        <p:spPr>
          <a:xfrm>
            <a:off x="0" y="0"/>
            <a:ext cx="14630400" cy="8229600"/>
          </a:xfrm>
          <a:prstGeom prst="rect">
            <a:avLst/>
          </a:prstGeom>
        </p:spPr>
      </p:pic>
      <p:sp>
        <p:nvSpPr>
          <p:cNvPr id="3" name="Shape 0"/>
          <p:cNvSpPr/>
          <p:nvPr/>
        </p:nvSpPr>
        <p:spPr>
          <a:xfrm>
            <a:off x="0" y="0"/>
            <a:ext cx="14630400" cy="8229600"/>
          </a:xfrm>
          <a:prstGeom prst="rect">
            <a:avLst/>
          </a:prstGeom>
          <a:solidFill>
            <a:srgbClr val="09151A">
              <a:alpha val="95000"/>
            </a:srgbClr>
          </a:solidFill>
          <a:ln/>
        </p:spPr>
      </p:sp>
      <p:pic>
        <p:nvPicPr>
          <p:cNvPr id="4" name="Image 1" descr="preencoded.png">
            <a:hlinkClick r:id="rId3"/>
          </p:cNvPr>
          <p:cNvPicPr>
            <a:picLocks noChangeAspect="1"/>
          </p:cNvPicPr>
          <p:nvPr/>
        </p:nvPicPr>
        <p:blipFill>
          <a:blip r:embed="rId4"/>
          <a:stretch>
            <a:fillRect/>
          </a:stretch>
        </p:blipFill>
        <p:spPr>
          <a:xfrm>
            <a:off x="12839215" y="7749540"/>
            <a:ext cx="1722605" cy="411480"/>
          </a:xfrm>
          <a:prstGeom prst="rect">
            <a:avLst/>
          </a:prstGeom>
        </p:spPr>
      </p:pic>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p:cSld name="Slide 8 master">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2"/>
          <a:stretch>
            <a:fillRect/>
          </a:stretch>
        </p:blipFill>
        <p:spPr>
          <a:xfrm>
            <a:off x="0" y="0"/>
            <a:ext cx="14630400" cy="8229600"/>
          </a:xfrm>
          <a:prstGeom prst="rect">
            <a:avLst/>
          </a:prstGeom>
        </p:spPr>
      </p:pic>
      <p:sp>
        <p:nvSpPr>
          <p:cNvPr id="3" name="Shape 0"/>
          <p:cNvSpPr/>
          <p:nvPr/>
        </p:nvSpPr>
        <p:spPr>
          <a:xfrm>
            <a:off x="0" y="0"/>
            <a:ext cx="14630400" cy="8229600"/>
          </a:xfrm>
          <a:prstGeom prst="rect">
            <a:avLst/>
          </a:prstGeom>
          <a:solidFill>
            <a:srgbClr val="09151A">
              <a:alpha val="95000"/>
            </a:srgbClr>
          </a:solidFill>
          <a:ln/>
        </p:spPr>
      </p:sp>
      <p:pic>
        <p:nvPicPr>
          <p:cNvPr id="4" name="Image 1" descr="preencoded.png">
            <a:hlinkClick r:id="rId3"/>
          </p:cNvPr>
          <p:cNvPicPr>
            <a:picLocks noChangeAspect="1"/>
          </p:cNvPicPr>
          <p:nvPr/>
        </p:nvPicPr>
        <p:blipFill>
          <a:blip r:embed="rId4"/>
          <a:stretch>
            <a:fillRect/>
          </a:stretch>
        </p:blipFill>
        <p:spPr>
          <a:xfrm>
            <a:off x="12839215" y="7749540"/>
            <a:ext cx="1722605" cy="411480"/>
          </a:xfrm>
          <a:prstGeom prst="rect">
            <a:avLst/>
          </a:prstGeom>
        </p:spPr>
      </p:pic>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Slide 9 master">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2"/>
          <a:stretch>
            <a:fillRect/>
          </a:stretch>
        </p:blipFill>
        <p:spPr>
          <a:xfrm>
            <a:off x="0" y="0"/>
            <a:ext cx="14630400" cy="8229600"/>
          </a:xfrm>
          <a:prstGeom prst="rect">
            <a:avLst/>
          </a:prstGeom>
        </p:spPr>
      </p:pic>
      <p:sp>
        <p:nvSpPr>
          <p:cNvPr id="3" name="Shape 0"/>
          <p:cNvSpPr/>
          <p:nvPr/>
        </p:nvSpPr>
        <p:spPr>
          <a:xfrm>
            <a:off x="0" y="0"/>
            <a:ext cx="14630400" cy="8229600"/>
          </a:xfrm>
          <a:prstGeom prst="rect">
            <a:avLst/>
          </a:prstGeom>
          <a:solidFill>
            <a:srgbClr val="09151A">
              <a:alpha val="95000"/>
            </a:srgbClr>
          </a:solidFill>
          <a:ln/>
        </p:spPr>
      </p:sp>
      <p:pic>
        <p:nvPicPr>
          <p:cNvPr id="4" name="Image 1" descr="preencoded.png">
            <a:hlinkClick r:id="rId3"/>
          </p:cNvPr>
          <p:cNvPicPr>
            <a:picLocks noChangeAspect="1"/>
          </p:cNvPicPr>
          <p:nvPr/>
        </p:nvPicPr>
        <p:blipFill>
          <a:blip r:embed="rId4"/>
          <a:stretch>
            <a:fillRect/>
          </a:stretch>
        </p:blipFill>
        <p:spPr>
          <a:xfrm>
            <a:off x="12839215" y="7749540"/>
            <a:ext cx="1722605" cy="411480"/>
          </a:xfrm>
          <a:prstGeom prst="rect">
            <a:avLst/>
          </a:prstGeom>
        </p:spPr>
      </p:pic>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Slide 10 master">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2"/>
          <a:stretch>
            <a:fillRect/>
          </a:stretch>
        </p:blipFill>
        <p:spPr>
          <a:xfrm>
            <a:off x="0" y="0"/>
            <a:ext cx="14630400" cy="8229600"/>
          </a:xfrm>
          <a:prstGeom prst="rect">
            <a:avLst/>
          </a:prstGeom>
        </p:spPr>
      </p:pic>
      <p:sp>
        <p:nvSpPr>
          <p:cNvPr id="3" name="Shape 0"/>
          <p:cNvSpPr/>
          <p:nvPr/>
        </p:nvSpPr>
        <p:spPr>
          <a:xfrm>
            <a:off x="0" y="0"/>
            <a:ext cx="14630400" cy="8229600"/>
          </a:xfrm>
          <a:prstGeom prst="rect">
            <a:avLst/>
          </a:prstGeom>
          <a:solidFill>
            <a:srgbClr val="09151A">
              <a:alpha val="95000"/>
            </a:srgbClr>
          </a:solidFill>
          <a:ln/>
        </p:spPr>
      </p:sp>
      <p:pic>
        <p:nvPicPr>
          <p:cNvPr id="4" name="Image 1" descr="preencoded.png">
            <a:hlinkClick r:id="rId3"/>
          </p:cNvPr>
          <p:cNvPicPr>
            <a:picLocks noChangeAspect="1"/>
          </p:cNvPicPr>
          <p:nvPr/>
        </p:nvPicPr>
        <p:blipFill>
          <a:blip r:embed="rId4"/>
          <a:stretch>
            <a:fillRect/>
          </a:stretch>
        </p:blipFill>
        <p:spPr>
          <a:xfrm>
            <a:off x="12839215" y="7749540"/>
            <a:ext cx="1722605" cy="411480"/>
          </a:xfrm>
          <a:prstGeom prst="rect">
            <a:avLst/>
          </a:prstGeom>
        </p:spPr>
      </p:pic>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cSld name="Slide 11 master">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2"/>
          <a:stretch>
            <a:fillRect/>
          </a:stretch>
        </p:blipFill>
        <p:spPr>
          <a:xfrm>
            <a:off x="0" y="0"/>
            <a:ext cx="14630400" cy="8229600"/>
          </a:xfrm>
          <a:prstGeom prst="rect">
            <a:avLst/>
          </a:prstGeom>
        </p:spPr>
      </p:pic>
      <p:sp>
        <p:nvSpPr>
          <p:cNvPr id="3" name="Shape 0"/>
          <p:cNvSpPr/>
          <p:nvPr/>
        </p:nvSpPr>
        <p:spPr>
          <a:xfrm>
            <a:off x="0" y="0"/>
            <a:ext cx="14630400" cy="8229600"/>
          </a:xfrm>
          <a:prstGeom prst="rect">
            <a:avLst/>
          </a:prstGeom>
          <a:solidFill>
            <a:srgbClr val="09151A">
              <a:alpha val="95000"/>
            </a:srgbClr>
          </a:solidFill>
          <a:ln/>
        </p:spPr>
      </p:sp>
      <p:pic>
        <p:nvPicPr>
          <p:cNvPr id="4" name="Image 1" descr="preencoded.png">
            <a:hlinkClick r:id="rId3"/>
          </p:cNvPr>
          <p:cNvPicPr>
            <a:picLocks noChangeAspect="1"/>
          </p:cNvPicPr>
          <p:nvPr/>
        </p:nvPicPr>
        <p:blipFill>
          <a:blip r:embed="rId4"/>
          <a:stretch>
            <a:fillRect/>
          </a:stretch>
        </p:blipFill>
        <p:spPr>
          <a:xfrm>
            <a:off x="12839215" y="7749540"/>
            <a:ext cx="1722605" cy="411480"/>
          </a:xfrm>
          <a:prstGeom prst="rect">
            <a:avLst/>
          </a:prstGeom>
        </p:spPr>
      </p:pic>
    </p:spTree>
    <p:extLst>
      <p:ext uri="{BB962C8B-B14F-4D97-AF65-F5344CB8AC3E}">
        <p14:creationId xmlns:p14="http://schemas.microsoft.com/office/powerpoint/2010/main" val="230429197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xml"/><Relationship Id="rId1" Type="http://schemas.openxmlformats.org/officeDocument/2006/relationships/slideLayout" Target="../slideLayouts/slideLayout2.xml"/><Relationship Id="rId4" Type="http://schemas.openxmlformats.org/officeDocument/2006/relationships/image" Target="../media/image4.png"/></Relationships>
</file>

<file path=ppt/slides/_rels/slide2.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2.xml"/><Relationship Id="rId1" Type="http://schemas.openxmlformats.org/officeDocument/2006/relationships/slideLayout" Target="../slideLayouts/slideLayout3.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4.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4.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4.xml"/></Relationships>
</file>

<file path=ppt/slides/_rels/slide6.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6.xml"/><Relationship Id="rId1" Type="http://schemas.openxmlformats.org/officeDocument/2006/relationships/slideLayout" Target="../slideLayouts/slideLayout5.xml"/></Relationships>
</file>

<file path=ppt/slides/_rels/slide7.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7.xml"/><Relationship Id="rId1" Type="http://schemas.openxmlformats.org/officeDocument/2006/relationships/slideLayout" Target="../slideLayouts/slideLayout6.xml"/></Relationships>
</file>

<file path=ppt/slides/_rels/slide8.xml.rels><?xml version="1.0" encoding="UTF-8" standalone="yes"?>
<Relationships xmlns="http://schemas.openxmlformats.org/package/2006/relationships"><Relationship Id="rId3" Type="http://schemas.openxmlformats.org/officeDocument/2006/relationships/image" Target="../media/image8.png"/><Relationship Id="rId7" Type="http://schemas.openxmlformats.org/officeDocument/2006/relationships/image" Target="../media/image12.png"/><Relationship Id="rId2" Type="http://schemas.openxmlformats.org/officeDocument/2006/relationships/notesSlide" Target="../notesSlides/notesSlide8.xml"/><Relationship Id="rId1" Type="http://schemas.openxmlformats.org/officeDocument/2006/relationships/slideLayout" Target="../slideLayouts/slideLayout7.xml"/><Relationship Id="rId6" Type="http://schemas.openxmlformats.org/officeDocument/2006/relationships/image" Target="../media/image11.png"/><Relationship Id="rId5" Type="http://schemas.openxmlformats.org/officeDocument/2006/relationships/image" Target="../media/image10.png"/><Relationship Id="rId4" Type="http://schemas.openxmlformats.org/officeDocument/2006/relationships/image" Target="../media/image9.png"/></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8.xml"/></Relationships>
</file>

<file path=ppt/slides/_rels/slide10.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10.xml"/><Relationship Id="rId1" Type="http://schemas.openxmlformats.org/officeDocument/2006/relationships/slideLayout" Target="../slideLayouts/slideLayout9.xml"/><Relationship Id="rId6" Type="http://schemas.openxmlformats.org/officeDocument/2006/relationships/image" Target="../media/image16.png"/><Relationship Id="rId5" Type="http://schemas.openxmlformats.org/officeDocument/2006/relationships/image" Target="../media/image15.png"/><Relationship Id="rId4" Type="http://schemas.openxmlformats.org/officeDocument/2006/relationships/image" Target="../media/image14.png"/></Relationships>
</file>

<file path=ppt/slides/_rels/slide11.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notesSlide" Target="../notesSlides/notesSlide11.xml"/><Relationship Id="rId1" Type="http://schemas.openxmlformats.org/officeDocument/2006/relationships/slideLayout" Target="../slideLayouts/slideLayout10.xml"/></Relationships>
</file>

<file path=ppt/slides/_rels/slide12.xml.rels><?xml version="1.0" encoding="UTF-8" standalone="yes"?>
<Relationships xmlns="http://schemas.openxmlformats.org/package/2006/relationships"><Relationship Id="rId8" Type="http://schemas.openxmlformats.org/officeDocument/2006/relationships/hyperlink" Target="https://ieeexplore.ieee.org/abstract/document/9160184" TargetMode="External"/><Relationship Id="rId3" Type="http://schemas.openxmlformats.org/officeDocument/2006/relationships/hyperlink" Target="https://docs.opencv.org" TargetMode="External"/><Relationship Id="rId7" Type="http://schemas.openxmlformats.org/officeDocument/2006/relationships/hyperlink" Target="https://d1wqtxts1xzle7.cloudfront.net/100152613/L34061081219-libre.pdf?1679478580=&amp;response-content-disposition=inline%3B+filename%3DFace_Recognition_Based_Attendance_System.pdf&amp;Expires=1747909679&amp;Signature=PBxPIlyQaZxtNi9F8UohBJ4H06F4pcYbQuS8yVlDeFGM4yoy795JEgTIZZC8PjxXpZfndH4zCDn08mJzV9oHZs2zFFYTZ2y7SjljYcVsbPMwyPD7OFvqE3azyaJ24VIa3XXDf94J-psaXK3jTlTXao5I3UUuUgkSaDdhA-BcnLNUOsWb9jqeCO5xqvY5OUWjbkm6GHeoB-cDoK-iAPoq4Cjf3xC-UO7sThwBLFwAmbSTXEBlGMNwoJ2toukz8CmddGQBEtpQakBTSliS4OG-i3jZDqQ3kWr6SCghrF103mnBP777iRojzDCCPGUg06L2LNv0KFZtiKQvnCtv0h8Hpg__&amp;Key-Pair-Id=APKAJLOHF5GGSLRBV4ZA" TargetMode="External"/><Relationship Id="rId2" Type="http://schemas.openxmlformats.org/officeDocument/2006/relationships/notesSlide" Target="../notesSlides/notesSlide12.xml"/><Relationship Id="rId1" Type="http://schemas.openxmlformats.org/officeDocument/2006/relationships/slideLayout" Target="../slideLayouts/slideLayout11.xml"/><Relationship Id="rId6" Type="http://schemas.openxmlformats.org/officeDocument/2006/relationships/hyperlink" Target="http://dlib.net/" TargetMode="External"/><Relationship Id="rId11" Type="http://schemas.openxmlformats.org/officeDocument/2006/relationships/hyperlink" Target="https://shibata.yubetsu.com/article/aDvAwvAC" TargetMode="External"/><Relationship Id="rId5" Type="http://schemas.openxmlformats.org/officeDocument/2006/relationships/hyperlink" Target="https://docs.python.org/3/library/tkinter.html" TargetMode="External"/><Relationship Id="rId10" Type="http://schemas.openxmlformats.org/officeDocument/2006/relationships/hyperlink" Target="https://journals.mriindia.com/index.php/ijrdmr/article/view/307" TargetMode="External"/><Relationship Id="rId4" Type="http://schemas.openxmlformats.org/officeDocument/2006/relationships/hyperlink" Target="https://github.com/ageitgey/face_recognition" TargetMode="External"/><Relationship Id="rId9" Type="http://schemas.openxmlformats.org/officeDocument/2006/relationships/hyperlink" Target="https://link.springer.com/chapter/10.1007/978-981-19-9819-5_12" TargetMode="Externa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1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 0"/>
          <p:cNvSpPr/>
          <p:nvPr/>
        </p:nvSpPr>
        <p:spPr>
          <a:xfrm>
            <a:off x="6350198" y="1902857"/>
            <a:ext cx="7416403" cy="2313861"/>
          </a:xfrm>
          <a:prstGeom prst="rect">
            <a:avLst/>
          </a:prstGeom>
          <a:noFill/>
          <a:ln/>
        </p:spPr>
        <p:txBody>
          <a:bodyPr wrap="square" lIns="0" tIns="0" rIns="0" bIns="0" rtlCol="0" anchor="t"/>
          <a:lstStyle/>
          <a:p>
            <a:pPr marL="0" indent="0" algn="l">
              <a:lnSpc>
                <a:spcPts val="6050"/>
              </a:lnSpc>
              <a:buNone/>
            </a:pPr>
            <a:r>
              <a:rPr lang="en-US" sz="4850" dirty="0">
                <a:solidFill>
                  <a:srgbClr val="F5F0F0"/>
                </a:solidFill>
                <a:latin typeface="Merriweather" pitchFamily="34" charset="0"/>
                <a:ea typeface="Merriweather" pitchFamily="34" charset="-122"/>
                <a:cs typeface="Merriweather" pitchFamily="34" charset="-120"/>
              </a:rPr>
              <a:t>Real-time Attendance Tracker using Facial Features</a:t>
            </a:r>
            <a:endParaRPr lang="en-US" sz="4850" dirty="0"/>
          </a:p>
        </p:txBody>
      </p:sp>
      <p:sp>
        <p:nvSpPr>
          <p:cNvPr id="4" name="Text 1"/>
          <p:cNvSpPr/>
          <p:nvPr/>
        </p:nvSpPr>
        <p:spPr>
          <a:xfrm>
            <a:off x="6350198" y="5304686"/>
            <a:ext cx="7416403" cy="394811"/>
          </a:xfrm>
          <a:prstGeom prst="rect">
            <a:avLst/>
          </a:prstGeom>
          <a:noFill/>
          <a:ln/>
        </p:spPr>
        <p:txBody>
          <a:bodyPr wrap="none" lIns="0" tIns="0" rIns="0" bIns="0" rtlCol="0" anchor="t"/>
          <a:lstStyle/>
          <a:p>
            <a:pPr marL="0" indent="0" algn="l">
              <a:lnSpc>
                <a:spcPts val="3100"/>
              </a:lnSpc>
              <a:buNone/>
            </a:pPr>
            <a:r>
              <a:rPr lang="en-US" sz="1900" b="1" dirty="0">
                <a:solidFill>
                  <a:srgbClr val="E2E6E9"/>
                </a:solidFill>
                <a:latin typeface="Merriweather" pitchFamily="34" charset="0"/>
                <a:ea typeface="Merriweather" pitchFamily="34" charset="-122"/>
                <a:cs typeface="Merriweather" pitchFamily="34" charset="-120"/>
              </a:rPr>
              <a:t>Batch Year:</a:t>
            </a:r>
            <a:r>
              <a:rPr lang="en-US" sz="1900" dirty="0">
                <a:solidFill>
                  <a:srgbClr val="E2E6E9"/>
                </a:solidFill>
                <a:latin typeface="Merriweather" pitchFamily="34" charset="0"/>
                <a:ea typeface="Merriweather" pitchFamily="34" charset="-122"/>
                <a:cs typeface="Merriweather" pitchFamily="34" charset="-120"/>
              </a:rPr>
              <a:t> 2023–2025</a:t>
            </a:r>
            <a:endParaRPr lang="en-US" sz="1900" dirty="0"/>
          </a:p>
        </p:txBody>
      </p:sp>
      <p:sp>
        <p:nvSpPr>
          <p:cNvPr id="5" name="Text 2"/>
          <p:cNvSpPr/>
          <p:nvPr/>
        </p:nvSpPr>
        <p:spPr>
          <a:xfrm>
            <a:off x="6350197" y="4731043"/>
            <a:ext cx="7416403" cy="394811"/>
          </a:xfrm>
          <a:prstGeom prst="rect">
            <a:avLst/>
          </a:prstGeom>
          <a:noFill/>
          <a:ln/>
        </p:spPr>
        <p:txBody>
          <a:bodyPr wrap="none" lIns="0" tIns="0" rIns="0" bIns="0" rtlCol="0" anchor="t"/>
          <a:lstStyle/>
          <a:p>
            <a:pPr marL="0" indent="0" algn="l">
              <a:lnSpc>
                <a:spcPts val="3100"/>
              </a:lnSpc>
              <a:buNone/>
            </a:pPr>
            <a:r>
              <a:rPr lang="en-US" sz="1900" b="1" dirty="0">
                <a:solidFill>
                  <a:srgbClr val="E2E6E9"/>
                </a:solidFill>
                <a:latin typeface="Merriweather" pitchFamily="34" charset="0"/>
                <a:ea typeface="Merriweather" pitchFamily="34" charset="-122"/>
                <a:cs typeface="Merriweather" pitchFamily="34" charset="-120"/>
              </a:rPr>
              <a:t>Student:</a:t>
            </a:r>
            <a:r>
              <a:rPr lang="en-US" sz="1900" dirty="0">
                <a:solidFill>
                  <a:srgbClr val="E2E6E9"/>
                </a:solidFill>
                <a:latin typeface="Merriweather" pitchFamily="34" charset="0"/>
                <a:ea typeface="Merriweather" pitchFamily="34" charset="-122"/>
                <a:cs typeface="Merriweather" pitchFamily="34" charset="-120"/>
              </a:rPr>
              <a:t> Vaishnavi Lokhanday (SEN: A869145023001)</a:t>
            </a:r>
            <a:endParaRPr lang="en-US" sz="1900" dirty="0"/>
          </a:p>
        </p:txBody>
      </p:sp>
      <p:sp>
        <p:nvSpPr>
          <p:cNvPr id="6" name="Text 3"/>
          <p:cNvSpPr/>
          <p:nvPr/>
        </p:nvSpPr>
        <p:spPr>
          <a:xfrm>
            <a:off x="6350198" y="5931813"/>
            <a:ext cx="7416403" cy="394811"/>
          </a:xfrm>
          <a:prstGeom prst="rect">
            <a:avLst/>
          </a:prstGeom>
          <a:noFill/>
          <a:ln/>
        </p:spPr>
        <p:txBody>
          <a:bodyPr wrap="none" lIns="0" tIns="0" rIns="0" bIns="0" rtlCol="0" anchor="t"/>
          <a:lstStyle/>
          <a:p>
            <a:pPr marL="0" indent="0" algn="l">
              <a:lnSpc>
                <a:spcPts val="3100"/>
              </a:lnSpc>
              <a:buNone/>
            </a:pPr>
            <a:r>
              <a:rPr lang="en-US" sz="1900" b="1" dirty="0">
                <a:solidFill>
                  <a:srgbClr val="E2E6E9"/>
                </a:solidFill>
                <a:latin typeface="Merriweather" pitchFamily="34" charset="0"/>
                <a:ea typeface="Merriweather" pitchFamily="34" charset="-122"/>
                <a:cs typeface="Merriweather" pitchFamily="34" charset="-120"/>
              </a:rPr>
              <a:t>Guide:</a:t>
            </a:r>
            <a:r>
              <a:rPr lang="en-US" sz="1900" dirty="0">
                <a:solidFill>
                  <a:srgbClr val="E2E6E9"/>
                </a:solidFill>
                <a:latin typeface="Merriweather" pitchFamily="34" charset="0"/>
                <a:ea typeface="Merriweather" pitchFamily="34" charset="-122"/>
                <a:cs typeface="Merriweather" pitchFamily="34" charset="-120"/>
              </a:rPr>
              <a:t> Dr. Chandrashekhar</a:t>
            </a:r>
            <a:r>
              <a:rPr lang="en-US" sz="1900">
                <a:solidFill>
                  <a:srgbClr val="E2E6E9"/>
                </a:solidFill>
                <a:latin typeface="Merriweather" pitchFamily="34" charset="0"/>
                <a:ea typeface="Merriweather" pitchFamily="34" charset="-122"/>
                <a:cs typeface="Merriweather" pitchFamily="34" charset="-120"/>
              </a:rPr>
              <a:t>, HOI, </a:t>
            </a:r>
            <a:r>
              <a:rPr lang="en-US" sz="1900" dirty="0">
                <a:solidFill>
                  <a:srgbClr val="E2E6E9"/>
                </a:solidFill>
                <a:latin typeface="Merriweather" pitchFamily="34" charset="0"/>
                <a:ea typeface="Merriweather" pitchFamily="34" charset="-122"/>
                <a:cs typeface="Merriweather" pitchFamily="34" charset="-120"/>
              </a:rPr>
              <a:t>AIIT</a:t>
            </a:r>
            <a:endParaRPr lang="en-US" sz="1900" dirty="0"/>
          </a:p>
        </p:txBody>
      </p:sp>
      <p:sp>
        <p:nvSpPr>
          <p:cNvPr id="7" name="Rectangle 6">
            <a:extLst>
              <a:ext uri="{FF2B5EF4-FFF2-40B4-BE49-F238E27FC236}">
                <a16:creationId xmlns:a16="http://schemas.microsoft.com/office/drawing/2014/main" id="{1C7BB8B2-9731-4A7A-F503-D2D4D37196B7}"/>
              </a:ext>
            </a:extLst>
          </p:cNvPr>
          <p:cNvSpPr/>
          <p:nvPr/>
        </p:nvSpPr>
        <p:spPr>
          <a:xfrm>
            <a:off x="12812751" y="7660888"/>
            <a:ext cx="1739590" cy="479502"/>
          </a:xfrm>
          <a:prstGeom prst="rect">
            <a:avLst/>
          </a:prstGeom>
          <a:solidFill>
            <a:srgbClr val="091519"/>
          </a:solidFill>
          <a:ln>
            <a:solidFill>
              <a:srgbClr val="091519"/>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pic>
        <p:nvPicPr>
          <p:cNvPr id="8" name="Picture 7" descr="A white text on a blue background&#10;&#10;Description automatically generated">
            <a:extLst>
              <a:ext uri="{FF2B5EF4-FFF2-40B4-BE49-F238E27FC236}">
                <a16:creationId xmlns:a16="http://schemas.microsoft.com/office/drawing/2014/main" id="{5D397FC1-6D1E-1322-E5EA-7BE4A71AA1D0}"/>
              </a:ext>
            </a:extLst>
          </p:cNvPr>
          <p:cNvPicPr>
            <a:picLocks noChangeAspect="1"/>
          </p:cNvPicPr>
          <p:nvPr/>
        </p:nvPicPr>
        <p:blipFill>
          <a:blip r:embed="rId3"/>
          <a:stretch>
            <a:fillRect/>
          </a:stretch>
        </p:blipFill>
        <p:spPr>
          <a:xfrm>
            <a:off x="5486400" y="30495"/>
            <a:ext cx="9144000" cy="984266"/>
          </a:xfrm>
          <a:prstGeom prst="rect">
            <a:avLst/>
          </a:prstGeom>
        </p:spPr>
      </p:pic>
      <p:pic>
        <p:nvPicPr>
          <p:cNvPr id="9" name="Image 0" descr="preencoded.png">
            <a:extLst>
              <a:ext uri="{FF2B5EF4-FFF2-40B4-BE49-F238E27FC236}">
                <a16:creationId xmlns:a16="http://schemas.microsoft.com/office/drawing/2014/main" id="{5C121FC1-CDB4-A997-406A-BB7700DAD65E}"/>
              </a:ext>
            </a:extLst>
          </p:cNvPr>
          <p:cNvPicPr>
            <a:picLocks noChangeAspect="1"/>
          </p:cNvPicPr>
          <p:nvPr/>
        </p:nvPicPr>
        <p:blipFill>
          <a:blip r:embed="rId4"/>
          <a:stretch>
            <a:fillRect/>
          </a:stretch>
        </p:blipFill>
        <p:spPr>
          <a:xfrm>
            <a:off x="0" y="0"/>
            <a:ext cx="5486400" cy="8229600"/>
          </a:xfrm>
          <a:prstGeom prst="rect">
            <a:avLst/>
          </a:prstGeom>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3" name="Text 0"/>
          <p:cNvSpPr/>
          <p:nvPr/>
        </p:nvSpPr>
        <p:spPr>
          <a:xfrm>
            <a:off x="796052" y="984885"/>
            <a:ext cx="7551896" cy="1421606"/>
          </a:xfrm>
          <a:prstGeom prst="rect">
            <a:avLst/>
          </a:prstGeom>
          <a:noFill/>
          <a:ln/>
        </p:spPr>
        <p:txBody>
          <a:bodyPr wrap="square" lIns="0" tIns="0" rIns="0" bIns="0" rtlCol="0" anchor="t"/>
          <a:lstStyle/>
          <a:p>
            <a:pPr marL="0" indent="0" algn="l">
              <a:lnSpc>
                <a:spcPts val="5550"/>
              </a:lnSpc>
              <a:buNone/>
            </a:pPr>
            <a:r>
              <a:rPr lang="en-US" sz="4450" dirty="0">
                <a:solidFill>
                  <a:srgbClr val="F5F0F0"/>
                </a:solidFill>
                <a:latin typeface="Merriweather" pitchFamily="34" charset="0"/>
                <a:ea typeface="Merriweather" pitchFamily="34" charset="-122"/>
                <a:cs typeface="Merriweather" pitchFamily="34" charset="-120"/>
              </a:rPr>
              <a:t>Introduction to Attendance Systems</a:t>
            </a:r>
            <a:endParaRPr lang="en-US" sz="4450" dirty="0"/>
          </a:p>
        </p:txBody>
      </p:sp>
      <p:sp>
        <p:nvSpPr>
          <p:cNvPr id="4" name="Shape 1"/>
          <p:cNvSpPr/>
          <p:nvPr/>
        </p:nvSpPr>
        <p:spPr>
          <a:xfrm>
            <a:off x="796052" y="2747605"/>
            <a:ext cx="511731" cy="511731"/>
          </a:xfrm>
          <a:prstGeom prst="roundRect">
            <a:avLst>
              <a:gd name="adj" fmla="val 18668"/>
            </a:avLst>
          </a:prstGeom>
          <a:solidFill>
            <a:srgbClr val="003180"/>
          </a:solidFill>
          <a:ln w="7620">
            <a:solidFill>
              <a:srgbClr val="194A99"/>
            </a:solidFill>
            <a:prstDash val="solid"/>
          </a:ln>
        </p:spPr>
      </p:sp>
      <p:sp>
        <p:nvSpPr>
          <p:cNvPr id="5" name="Text 2"/>
          <p:cNvSpPr/>
          <p:nvPr/>
        </p:nvSpPr>
        <p:spPr>
          <a:xfrm>
            <a:off x="1535192" y="2825710"/>
            <a:ext cx="2894767" cy="710803"/>
          </a:xfrm>
          <a:prstGeom prst="rect">
            <a:avLst/>
          </a:prstGeom>
          <a:noFill/>
          <a:ln/>
        </p:spPr>
        <p:txBody>
          <a:bodyPr wrap="square" lIns="0" tIns="0" rIns="0" bIns="0" rtlCol="0" anchor="t"/>
          <a:lstStyle/>
          <a:p>
            <a:pPr marL="0" indent="0" algn="l">
              <a:lnSpc>
                <a:spcPts val="2750"/>
              </a:lnSpc>
              <a:buNone/>
            </a:pPr>
            <a:r>
              <a:rPr lang="en-US" sz="2200" dirty="0">
                <a:solidFill>
                  <a:srgbClr val="E2E6E9"/>
                </a:solidFill>
                <a:latin typeface="Merriweather" pitchFamily="34" charset="0"/>
                <a:ea typeface="Merriweather" pitchFamily="34" charset="-122"/>
                <a:cs typeface="Merriweather" pitchFamily="34" charset="-120"/>
              </a:rPr>
              <a:t>Limitations of Traditional Systems</a:t>
            </a:r>
            <a:endParaRPr lang="en-US" sz="2200" dirty="0"/>
          </a:p>
        </p:txBody>
      </p:sp>
      <p:sp>
        <p:nvSpPr>
          <p:cNvPr id="6" name="Text 3"/>
          <p:cNvSpPr/>
          <p:nvPr/>
        </p:nvSpPr>
        <p:spPr>
          <a:xfrm>
            <a:off x="1535192" y="3672959"/>
            <a:ext cx="2894767" cy="1819275"/>
          </a:xfrm>
          <a:prstGeom prst="rect">
            <a:avLst/>
          </a:prstGeom>
          <a:noFill/>
          <a:ln/>
        </p:spPr>
        <p:txBody>
          <a:bodyPr wrap="square" lIns="0" tIns="0" rIns="0" bIns="0" rtlCol="0" anchor="t"/>
          <a:lstStyle/>
          <a:p>
            <a:pPr marL="0" indent="0" algn="l">
              <a:lnSpc>
                <a:spcPts val="2850"/>
              </a:lnSpc>
              <a:buNone/>
            </a:pPr>
            <a:r>
              <a:rPr lang="en-US" sz="1750" dirty="0">
                <a:solidFill>
                  <a:srgbClr val="E2E6E9"/>
                </a:solidFill>
                <a:latin typeface="Merriweather" pitchFamily="34" charset="0"/>
                <a:ea typeface="Merriweather" pitchFamily="34" charset="-122"/>
                <a:cs typeface="Merriweather" pitchFamily="34" charset="-120"/>
              </a:rPr>
              <a:t>Manual roll calls and ID card scans are slow, prone to human error, and vulnerable to proxy attendance issues.</a:t>
            </a:r>
            <a:endParaRPr lang="en-US" sz="1750" dirty="0"/>
          </a:p>
        </p:txBody>
      </p:sp>
      <p:sp>
        <p:nvSpPr>
          <p:cNvPr id="7" name="Shape 4"/>
          <p:cNvSpPr/>
          <p:nvPr/>
        </p:nvSpPr>
        <p:spPr>
          <a:xfrm>
            <a:off x="4714161" y="2747605"/>
            <a:ext cx="511731" cy="511731"/>
          </a:xfrm>
          <a:prstGeom prst="roundRect">
            <a:avLst>
              <a:gd name="adj" fmla="val 18668"/>
            </a:avLst>
          </a:prstGeom>
          <a:solidFill>
            <a:srgbClr val="003180"/>
          </a:solidFill>
          <a:ln w="7620">
            <a:solidFill>
              <a:srgbClr val="194A99"/>
            </a:solidFill>
            <a:prstDash val="solid"/>
          </a:ln>
        </p:spPr>
      </p:sp>
      <p:sp>
        <p:nvSpPr>
          <p:cNvPr id="8" name="Text 5"/>
          <p:cNvSpPr/>
          <p:nvPr/>
        </p:nvSpPr>
        <p:spPr>
          <a:xfrm>
            <a:off x="5453301" y="2825710"/>
            <a:ext cx="2894767" cy="710803"/>
          </a:xfrm>
          <a:prstGeom prst="rect">
            <a:avLst/>
          </a:prstGeom>
          <a:noFill/>
          <a:ln/>
        </p:spPr>
        <p:txBody>
          <a:bodyPr wrap="square" lIns="0" tIns="0" rIns="0" bIns="0" rtlCol="0" anchor="t"/>
          <a:lstStyle/>
          <a:p>
            <a:pPr marL="0" indent="0" algn="l">
              <a:lnSpc>
                <a:spcPts val="2750"/>
              </a:lnSpc>
              <a:buNone/>
            </a:pPr>
            <a:r>
              <a:rPr lang="en-US" sz="2200" dirty="0">
                <a:solidFill>
                  <a:srgbClr val="E2E6E9"/>
                </a:solidFill>
                <a:latin typeface="Merriweather" pitchFamily="34" charset="0"/>
                <a:ea typeface="Merriweather" pitchFamily="34" charset="-122"/>
                <a:cs typeface="Merriweather" pitchFamily="34" charset="-120"/>
              </a:rPr>
              <a:t>Biometric Systems Challenges</a:t>
            </a:r>
            <a:endParaRPr lang="en-US" sz="2200" dirty="0"/>
          </a:p>
        </p:txBody>
      </p:sp>
      <p:sp>
        <p:nvSpPr>
          <p:cNvPr id="9" name="Text 6"/>
          <p:cNvSpPr/>
          <p:nvPr/>
        </p:nvSpPr>
        <p:spPr>
          <a:xfrm>
            <a:off x="5453301" y="3672959"/>
            <a:ext cx="2894767" cy="1819275"/>
          </a:xfrm>
          <a:prstGeom prst="rect">
            <a:avLst/>
          </a:prstGeom>
          <a:noFill/>
          <a:ln/>
        </p:spPr>
        <p:txBody>
          <a:bodyPr wrap="square" lIns="0" tIns="0" rIns="0" bIns="0" rtlCol="0" anchor="t"/>
          <a:lstStyle/>
          <a:p>
            <a:pPr marL="0" indent="0" algn="l">
              <a:lnSpc>
                <a:spcPts val="2850"/>
              </a:lnSpc>
              <a:buNone/>
            </a:pPr>
            <a:r>
              <a:rPr lang="en-US" sz="1750" dirty="0">
                <a:solidFill>
                  <a:srgbClr val="E2E6E9"/>
                </a:solidFill>
                <a:latin typeface="Merriweather" pitchFamily="34" charset="0"/>
                <a:ea typeface="Merriweather" pitchFamily="34" charset="-122"/>
                <a:cs typeface="Merriweather" pitchFamily="34" charset="-120"/>
              </a:rPr>
              <a:t>While biometric methods improve accuracy, physical contact raises hygiene concerns, especially post-pandemic.</a:t>
            </a:r>
            <a:endParaRPr lang="en-US" sz="1750" dirty="0"/>
          </a:p>
        </p:txBody>
      </p:sp>
      <p:sp>
        <p:nvSpPr>
          <p:cNvPr id="10" name="Shape 7"/>
          <p:cNvSpPr/>
          <p:nvPr/>
        </p:nvSpPr>
        <p:spPr>
          <a:xfrm>
            <a:off x="796052" y="5947053"/>
            <a:ext cx="511731" cy="511731"/>
          </a:xfrm>
          <a:prstGeom prst="roundRect">
            <a:avLst>
              <a:gd name="adj" fmla="val 18668"/>
            </a:avLst>
          </a:prstGeom>
          <a:solidFill>
            <a:srgbClr val="003180"/>
          </a:solidFill>
          <a:ln w="7620">
            <a:solidFill>
              <a:srgbClr val="194A99"/>
            </a:solidFill>
            <a:prstDash val="solid"/>
          </a:ln>
        </p:spPr>
      </p:sp>
      <p:sp>
        <p:nvSpPr>
          <p:cNvPr id="11" name="Text 8"/>
          <p:cNvSpPr/>
          <p:nvPr/>
        </p:nvSpPr>
        <p:spPr>
          <a:xfrm>
            <a:off x="1535192" y="6025158"/>
            <a:ext cx="2843093" cy="355402"/>
          </a:xfrm>
          <a:prstGeom prst="rect">
            <a:avLst/>
          </a:prstGeom>
          <a:noFill/>
          <a:ln/>
        </p:spPr>
        <p:txBody>
          <a:bodyPr wrap="none" lIns="0" tIns="0" rIns="0" bIns="0" rtlCol="0" anchor="t"/>
          <a:lstStyle/>
          <a:p>
            <a:pPr marL="0" indent="0" algn="l">
              <a:lnSpc>
                <a:spcPts val="2750"/>
              </a:lnSpc>
              <a:buNone/>
            </a:pPr>
            <a:r>
              <a:rPr lang="en-US" sz="2200" dirty="0">
                <a:solidFill>
                  <a:srgbClr val="E2E6E9"/>
                </a:solidFill>
                <a:latin typeface="Merriweather" pitchFamily="34" charset="0"/>
                <a:ea typeface="Merriweather" pitchFamily="34" charset="-122"/>
                <a:cs typeface="Merriweather" pitchFamily="34" charset="-120"/>
              </a:rPr>
              <a:t>Proposed Solution</a:t>
            </a:r>
            <a:endParaRPr lang="en-US" sz="2200" dirty="0"/>
          </a:p>
        </p:txBody>
      </p:sp>
      <p:sp>
        <p:nvSpPr>
          <p:cNvPr id="12" name="Text 9"/>
          <p:cNvSpPr/>
          <p:nvPr/>
        </p:nvSpPr>
        <p:spPr>
          <a:xfrm>
            <a:off x="1535192" y="6517005"/>
            <a:ext cx="6812756" cy="727710"/>
          </a:xfrm>
          <a:prstGeom prst="rect">
            <a:avLst/>
          </a:prstGeom>
          <a:noFill/>
          <a:ln/>
        </p:spPr>
        <p:txBody>
          <a:bodyPr wrap="square" lIns="0" tIns="0" rIns="0" bIns="0" rtlCol="0" anchor="t"/>
          <a:lstStyle/>
          <a:p>
            <a:pPr marL="0" indent="0" algn="l">
              <a:lnSpc>
                <a:spcPts val="2850"/>
              </a:lnSpc>
              <a:buNone/>
            </a:pPr>
            <a:r>
              <a:rPr lang="en-US" sz="1750" dirty="0">
                <a:solidFill>
                  <a:srgbClr val="E2E6E9"/>
                </a:solidFill>
                <a:latin typeface="Merriweather" pitchFamily="34" charset="0"/>
                <a:ea typeface="Merriweather" pitchFamily="34" charset="-122"/>
                <a:cs typeface="Merriweather" pitchFamily="34" charset="-120"/>
              </a:rPr>
              <a:t>A contactless, automated attendance system using face recognition, offering speed, security, and convenience.</a:t>
            </a:r>
            <a:endParaRPr lang="en-US" sz="1750" dirty="0"/>
          </a:p>
        </p:txBody>
      </p:sp>
      <p:pic>
        <p:nvPicPr>
          <p:cNvPr id="17" name="Image 0" descr="preencoded.png">
            <a:extLst>
              <a:ext uri="{FF2B5EF4-FFF2-40B4-BE49-F238E27FC236}">
                <a16:creationId xmlns:a16="http://schemas.microsoft.com/office/drawing/2014/main" id="{0DA6FC8A-3ACA-B6EC-F7B4-1C7C1FC4F8C9}"/>
              </a:ext>
            </a:extLst>
          </p:cNvPr>
          <p:cNvPicPr>
            <a:picLocks noChangeAspect="1"/>
          </p:cNvPicPr>
          <p:nvPr/>
        </p:nvPicPr>
        <p:blipFill>
          <a:blip r:embed="rId3"/>
          <a:stretch>
            <a:fillRect/>
          </a:stretch>
        </p:blipFill>
        <p:spPr>
          <a:xfrm>
            <a:off x="9144000" y="0"/>
            <a:ext cx="5486400" cy="8229600"/>
          </a:xfrm>
          <a:prstGeom prst="rect">
            <a:avLst/>
          </a:prstGeom>
        </p:spPr>
      </p:pic>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nvSpPr>
        <p:spPr>
          <a:xfrm>
            <a:off x="863797" y="383349"/>
            <a:ext cx="12902803" cy="789622"/>
          </a:xfrm>
          <a:prstGeom prst="rect">
            <a:avLst/>
          </a:prstGeom>
          <a:noFill/>
          <a:ln/>
        </p:spPr>
        <p:txBody>
          <a:bodyPr wrap="square" lIns="0" tIns="0" rIns="0" bIns="0" rtlCol="0" anchor="t"/>
          <a:lstStyle/>
          <a:p>
            <a:pPr marL="0" indent="0" algn="l">
              <a:lnSpc>
                <a:spcPts val="6050"/>
              </a:lnSpc>
              <a:buNone/>
            </a:pPr>
            <a:r>
              <a:rPr lang="en-US" sz="4850" dirty="0">
                <a:solidFill>
                  <a:srgbClr val="F5F0F0"/>
                </a:solidFill>
                <a:latin typeface="Merriweather" pitchFamily="34" charset="0"/>
                <a:ea typeface="Merriweather" pitchFamily="34" charset="-122"/>
                <a:cs typeface="Merriweather" pitchFamily="34" charset="-120"/>
              </a:rPr>
              <a:t>Literature Review:</a:t>
            </a:r>
            <a:endParaRPr lang="en-US" sz="4850" dirty="0"/>
          </a:p>
        </p:txBody>
      </p:sp>
      <p:sp>
        <p:nvSpPr>
          <p:cNvPr id="8" name="Rectangle 7">
            <a:extLst>
              <a:ext uri="{FF2B5EF4-FFF2-40B4-BE49-F238E27FC236}">
                <a16:creationId xmlns:a16="http://schemas.microsoft.com/office/drawing/2014/main" id="{5C882D8A-92F1-0F67-50D6-7B09E90D4E40}"/>
              </a:ext>
            </a:extLst>
          </p:cNvPr>
          <p:cNvSpPr/>
          <p:nvPr/>
        </p:nvSpPr>
        <p:spPr>
          <a:xfrm>
            <a:off x="12812751" y="7660888"/>
            <a:ext cx="1739590" cy="479502"/>
          </a:xfrm>
          <a:prstGeom prst="rect">
            <a:avLst/>
          </a:prstGeom>
          <a:solidFill>
            <a:srgbClr val="091519"/>
          </a:solidFill>
          <a:ln>
            <a:solidFill>
              <a:srgbClr val="091519"/>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graphicFrame>
        <p:nvGraphicFramePr>
          <p:cNvPr id="9" name="Table 8">
            <a:extLst>
              <a:ext uri="{FF2B5EF4-FFF2-40B4-BE49-F238E27FC236}">
                <a16:creationId xmlns:a16="http://schemas.microsoft.com/office/drawing/2014/main" id="{65FBED02-3DEE-E826-8EAD-CBA45D3DE6DD}"/>
              </a:ext>
            </a:extLst>
          </p:cNvPr>
          <p:cNvGraphicFramePr>
            <a:graphicFrameLocks noGrp="1"/>
          </p:cNvGraphicFramePr>
          <p:nvPr>
            <p:extLst>
              <p:ext uri="{D42A27DB-BD31-4B8C-83A1-F6EECF244321}">
                <p14:modId xmlns:p14="http://schemas.microsoft.com/office/powerpoint/2010/main" val="1847394922"/>
              </p:ext>
            </p:extLst>
          </p:nvPr>
        </p:nvGraphicFramePr>
        <p:xfrm>
          <a:off x="269631" y="1684633"/>
          <a:ext cx="14100572" cy="5464593"/>
        </p:xfrm>
        <a:graphic>
          <a:graphicData uri="http://schemas.openxmlformats.org/drawingml/2006/table">
            <a:tbl>
              <a:tblPr firstRow="1" bandRow="1">
                <a:tableStyleId>{F5AB1C69-6EDB-4FF4-983F-18BD219EF322}</a:tableStyleId>
              </a:tblPr>
              <a:tblGrid>
                <a:gridCol w="963851">
                  <a:extLst>
                    <a:ext uri="{9D8B030D-6E8A-4147-A177-3AD203B41FA5}">
                      <a16:colId xmlns:a16="http://schemas.microsoft.com/office/drawing/2014/main" val="1218241935"/>
                    </a:ext>
                  </a:extLst>
                </a:gridCol>
                <a:gridCol w="3647033">
                  <a:extLst>
                    <a:ext uri="{9D8B030D-6E8A-4147-A177-3AD203B41FA5}">
                      <a16:colId xmlns:a16="http://schemas.microsoft.com/office/drawing/2014/main" val="1100304521"/>
                    </a:ext>
                  </a:extLst>
                </a:gridCol>
                <a:gridCol w="3267307">
                  <a:extLst>
                    <a:ext uri="{9D8B030D-6E8A-4147-A177-3AD203B41FA5}">
                      <a16:colId xmlns:a16="http://schemas.microsoft.com/office/drawing/2014/main" val="2083088469"/>
                    </a:ext>
                  </a:extLst>
                </a:gridCol>
                <a:gridCol w="3211551">
                  <a:extLst>
                    <a:ext uri="{9D8B030D-6E8A-4147-A177-3AD203B41FA5}">
                      <a16:colId xmlns:a16="http://schemas.microsoft.com/office/drawing/2014/main" val="901175214"/>
                    </a:ext>
                  </a:extLst>
                </a:gridCol>
                <a:gridCol w="3010830">
                  <a:extLst>
                    <a:ext uri="{9D8B030D-6E8A-4147-A177-3AD203B41FA5}">
                      <a16:colId xmlns:a16="http://schemas.microsoft.com/office/drawing/2014/main" val="2461183912"/>
                    </a:ext>
                  </a:extLst>
                </a:gridCol>
              </a:tblGrid>
              <a:tr h="892593">
                <a:tc>
                  <a:txBody>
                    <a:bodyPr/>
                    <a:lstStyle/>
                    <a:p>
                      <a:pPr algn="ctr"/>
                      <a:r>
                        <a:rPr lang="en-US" dirty="0">
                          <a:solidFill>
                            <a:schemeClr val="bg1"/>
                          </a:solidFill>
                        </a:rPr>
                        <a:t>S.No.</a:t>
                      </a:r>
                      <a:endParaRPr lang="en-IN" dirty="0">
                        <a:solidFill>
                          <a:schemeClr val="bg1"/>
                        </a:solidFill>
                      </a:endParaRPr>
                    </a:p>
                  </a:txBody>
                  <a:tcPr anchor="ctr">
                    <a:noFill/>
                  </a:tcPr>
                </a:tc>
                <a:tc>
                  <a:txBody>
                    <a:bodyPr/>
                    <a:lstStyle/>
                    <a:p>
                      <a:pPr algn="ctr"/>
                      <a:r>
                        <a:rPr lang="en-US" dirty="0">
                          <a:solidFill>
                            <a:schemeClr val="bg1"/>
                          </a:solidFill>
                        </a:rPr>
                        <a:t>Related Work</a:t>
                      </a:r>
                      <a:endParaRPr lang="en-IN" dirty="0">
                        <a:solidFill>
                          <a:schemeClr val="bg1"/>
                        </a:solidFill>
                      </a:endParaRPr>
                    </a:p>
                  </a:txBody>
                  <a:tcPr anchor="ctr">
                    <a:noFill/>
                  </a:tcPr>
                </a:tc>
                <a:tc>
                  <a:txBody>
                    <a:bodyPr/>
                    <a:lstStyle/>
                    <a:p>
                      <a:pPr algn="ctr"/>
                      <a:r>
                        <a:rPr lang="en-US" dirty="0">
                          <a:solidFill>
                            <a:schemeClr val="bg1"/>
                          </a:solidFill>
                        </a:rPr>
                        <a:t>Observations or Methodology</a:t>
                      </a:r>
                      <a:endParaRPr lang="en-IN" dirty="0">
                        <a:solidFill>
                          <a:schemeClr val="bg1"/>
                        </a:solidFill>
                      </a:endParaRPr>
                    </a:p>
                  </a:txBody>
                  <a:tcPr anchor="ctr">
                    <a:noFill/>
                  </a:tcPr>
                </a:tc>
                <a:tc>
                  <a:txBody>
                    <a:bodyPr/>
                    <a:lstStyle/>
                    <a:p>
                      <a:pPr algn="ctr"/>
                      <a:r>
                        <a:rPr lang="en-US" dirty="0">
                          <a:solidFill>
                            <a:schemeClr val="bg1"/>
                          </a:solidFill>
                        </a:rPr>
                        <a:t>Issues Identified</a:t>
                      </a:r>
                      <a:endParaRPr lang="en-IN" dirty="0">
                        <a:solidFill>
                          <a:schemeClr val="bg1"/>
                        </a:solidFill>
                      </a:endParaRPr>
                    </a:p>
                  </a:txBody>
                  <a:tcPr anchor="ctr">
                    <a:noFill/>
                  </a:tcPr>
                </a:tc>
                <a:tc>
                  <a:txBody>
                    <a:bodyPr/>
                    <a:lstStyle/>
                    <a:p>
                      <a:pPr algn="ctr"/>
                      <a:r>
                        <a:rPr lang="en-US" dirty="0">
                          <a:solidFill>
                            <a:schemeClr val="bg1"/>
                          </a:solidFill>
                        </a:rPr>
                        <a:t>Overcome in our work</a:t>
                      </a:r>
                      <a:endParaRPr lang="en-IN" dirty="0">
                        <a:solidFill>
                          <a:schemeClr val="bg1"/>
                        </a:solidFill>
                      </a:endParaRPr>
                    </a:p>
                  </a:txBody>
                  <a:tcPr anchor="ctr">
                    <a:noFill/>
                  </a:tcPr>
                </a:tc>
                <a:extLst>
                  <a:ext uri="{0D108BD9-81ED-4DB2-BD59-A6C34878D82A}">
                    <a16:rowId xmlns:a16="http://schemas.microsoft.com/office/drawing/2014/main" val="3248482832"/>
                  </a:ext>
                </a:extLst>
              </a:tr>
              <a:tr h="1754187">
                <a:tc>
                  <a:txBody>
                    <a:bodyPr/>
                    <a:lstStyle/>
                    <a:p>
                      <a:pPr algn="ctr"/>
                      <a:r>
                        <a:rPr lang="en-US" dirty="0">
                          <a:solidFill>
                            <a:schemeClr val="bg1"/>
                          </a:solidFill>
                        </a:rPr>
                        <a:t>1.</a:t>
                      </a:r>
                      <a:endParaRPr lang="en-IN" dirty="0">
                        <a:solidFill>
                          <a:schemeClr val="bg1"/>
                        </a:solidFill>
                      </a:endParaRPr>
                    </a:p>
                  </a:txBody>
                  <a:tcPr anchor="ctr">
                    <a:noFill/>
                  </a:tcPr>
                </a:tc>
                <a:tc>
                  <a:txBody>
                    <a:bodyPr/>
                    <a:lstStyle/>
                    <a:p>
                      <a:pPr algn="ctr"/>
                      <a:r>
                        <a:rPr lang="en-US" b="0" i="0" dirty="0">
                          <a:solidFill>
                            <a:schemeClr val="bg1"/>
                          </a:solidFill>
                          <a:effectLst/>
                          <a:latin typeface="Arial" panose="020B0604020202020204" pitchFamily="34" charset="0"/>
                        </a:rPr>
                        <a:t>Mekala, V., 2019</a:t>
                      </a:r>
                      <a:endParaRPr lang="en-IN" dirty="0">
                        <a:solidFill>
                          <a:schemeClr val="bg1"/>
                        </a:solidFill>
                      </a:endParaRPr>
                    </a:p>
                  </a:txBody>
                  <a:tcPr anchor="ctr">
                    <a:noFill/>
                  </a:tcPr>
                </a:tc>
                <a:tc>
                  <a:txBody>
                    <a:bodyPr/>
                    <a:lstStyle/>
                    <a:p>
                      <a:pPr algn="ctr"/>
                      <a:r>
                        <a:rPr lang="en-US" dirty="0">
                          <a:solidFill>
                            <a:schemeClr val="bg1"/>
                          </a:solidFill>
                        </a:rPr>
                        <a:t>The paper uses the Microsoft Cognitive Face API with PCA for face recognition, capturing images at fixed intervals using a mechanical setup. Attendance is marked if a match is found, but the system struggles with real-time performance and varying conditions.</a:t>
                      </a:r>
                      <a:endParaRPr lang="en-IN" dirty="0">
                        <a:solidFill>
                          <a:schemeClr val="bg1"/>
                        </a:solidFill>
                      </a:endParaRPr>
                    </a:p>
                  </a:txBody>
                  <a:tcPr anchor="ctr">
                    <a:noFill/>
                  </a:tcPr>
                </a:tc>
                <a:tc>
                  <a:txBody>
                    <a:bodyPr/>
                    <a:lstStyle/>
                    <a:p>
                      <a:pPr algn="ctr"/>
                      <a:r>
                        <a:rPr lang="en-US" dirty="0">
                          <a:solidFill>
                            <a:schemeClr val="bg1"/>
                          </a:solidFill>
                        </a:rPr>
                        <a:t>Uses PCA with a static image capture setup, which struggles with real-time detection and varying lighting or angles.</a:t>
                      </a:r>
                      <a:endParaRPr lang="en-IN" dirty="0">
                        <a:solidFill>
                          <a:schemeClr val="bg1"/>
                        </a:solidFill>
                      </a:endParaRPr>
                    </a:p>
                  </a:txBody>
                  <a:tcPr anchor="ctr">
                    <a:noFill/>
                  </a:tcPr>
                </a:tc>
                <a:tc>
                  <a:txBody>
                    <a:bodyPr/>
                    <a:lstStyle/>
                    <a:p>
                      <a:pPr algn="ctr"/>
                      <a:r>
                        <a:rPr lang="en-US" dirty="0">
                          <a:solidFill>
                            <a:schemeClr val="bg1"/>
                          </a:solidFill>
                        </a:rPr>
                        <a:t>This system uses deep learning for better accuracy and real-time video feed for continuous, reliable attendance marking.</a:t>
                      </a:r>
                      <a:endParaRPr lang="en-IN" dirty="0">
                        <a:solidFill>
                          <a:schemeClr val="bg1"/>
                        </a:solidFill>
                      </a:endParaRPr>
                    </a:p>
                  </a:txBody>
                  <a:tcPr anchor="ctr">
                    <a:noFill/>
                  </a:tcPr>
                </a:tc>
                <a:extLst>
                  <a:ext uri="{0D108BD9-81ED-4DB2-BD59-A6C34878D82A}">
                    <a16:rowId xmlns:a16="http://schemas.microsoft.com/office/drawing/2014/main" val="621208768"/>
                  </a:ext>
                </a:extLst>
              </a:tr>
              <a:tr h="1754187">
                <a:tc>
                  <a:txBody>
                    <a:bodyPr/>
                    <a:lstStyle/>
                    <a:p>
                      <a:pPr algn="ctr"/>
                      <a:r>
                        <a:rPr lang="en-US" dirty="0">
                          <a:solidFill>
                            <a:schemeClr val="bg1"/>
                          </a:solidFill>
                        </a:rPr>
                        <a:t>2.</a:t>
                      </a:r>
                      <a:endParaRPr lang="en-IN" dirty="0">
                        <a:solidFill>
                          <a:schemeClr val="bg1"/>
                        </a:solidFill>
                      </a:endParaRPr>
                    </a:p>
                  </a:txBody>
                  <a:tcPr anchor="ctr">
                    <a:noFill/>
                  </a:tcPr>
                </a:tc>
                <a:tc>
                  <a:txBody>
                    <a:bodyPr/>
                    <a:lstStyle/>
                    <a:p>
                      <a:pPr algn="ctr"/>
                      <a:r>
                        <a:rPr lang="en-IN" b="0" i="0" dirty="0">
                          <a:solidFill>
                            <a:schemeClr val="bg1"/>
                          </a:solidFill>
                          <a:effectLst/>
                          <a:latin typeface="Arial" panose="020B0604020202020204" pitchFamily="34" charset="0"/>
                        </a:rPr>
                        <a:t>Raj, A. Arjun, 2020</a:t>
                      </a:r>
                      <a:endParaRPr lang="en-IN" dirty="0">
                        <a:solidFill>
                          <a:schemeClr val="bg1"/>
                        </a:solidFill>
                      </a:endParaRPr>
                    </a:p>
                  </a:txBody>
                  <a:tcPr anchor="ctr">
                    <a:noFill/>
                  </a:tcPr>
                </a:tc>
                <a:tc>
                  <a:txBody>
                    <a:bodyPr/>
                    <a:lstStyle/>
                    <a:p>
                      <a:pPr algn="ctr"/>
                      <a:r>
                        <a:rPr lang="en-US" dirty="0">
                          <a:solidFill>
                            <a:schemeClr val="bg1"/>
                          </a:solidFill>
                        </a:rPr>
                        <a:t>Collected and preprocessed facial images, trained a CNN model, detected faces, extracted features, and matched them for recognition using OpenCV and Python.</a:t>
                      </a:r>
                      <a:endParaRPr lang="en-IN" dirty="0">
                        <a:solidFill>
                          <a:schemeClr val="bg1"/>
                        </a:solidFill>
                      </a:endParaRPr>
                    </a:p>
                  </a:txBody>
                  <a:tcPr anchor="ctr">
                    <a:noFill/>
                  </a:tcPr>
                </a:tc>
                <a:tc>
                  <a:txBody>
                    <a:bodyPr/>
                    <a:lstStyle/>
                    <a:p>
                      <a:pPr algn="ctr"/>
                      <a:r>
                        <a:rPr lang="en-US" dirty="0">
                          <a:solidFill>
                            <a:schemeClr val="bg1"/>
                          </a:solidFill>
                        </a:rPr>
                        <a:t>The paper employs a basic CNN model for face recognition, which may not generalize well across diverse real-world conditions due to limited data augmentation and lack of advanced training techniques.</a:t>
                      </a:r>
                    </a:p>
                  </a:txBody>
                  <a:tcPr anchor="ctr">
                    <a:noFill/>
                  </a:tcPr>
                </a:tc>
                <a:tc>
                  <a:txBody>
                    <a:bodyPr/>
                    <a:lstStyle/>
                    <a:p>
                      <a:pPr algn="ctr"/>
                      <a:r>
                        <a:rPr lang="en-US" dirty="0">
                          <a:solidFill>
                            <a:schemeClr val="bg1"/>
                          </a:solidFill>
                        </a:rPr>
                        <a:t>This project utilizes a more robust deep learning architecture with extensive data augmentation and transfer learning, enhancing accuracy and adaptability in varied environments.</a:t>
                      </a:r>
                    </a:p>
                  </a:txBody>
                  <a:tcPr anchor="ctr">
                    <a:noFill/>
                  </a:tcPr>
                </a:tc>
                <a:extLst>
                  <a:ext uri="{0D108BD9-81ED-4DB2-BD59-A6C34878D82A}">
                    <a16:rowId xmlns:a16="http://schemas.microsoft.com/office/drawing/2014/main" val="1330933069"/>
                  </a:ext>
                </a:extLst>
              </a:tr>
            </a:tbl>
          </a:graphicData>
        </a:graphic>
      </p:graphicFrame>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FD21D7C-DE6D-3996-5849-715D8D35F841}"/>
            </a:ext>
          </a:extLst>
        </p:cNvPr>
        <p:cNvGrpSpPr/>
        <p:nvPr/>
      </p:nvGrpSpPr>
      <p:grpSpPr>
        <a:xfrm>
          <a:off x="0" y="0"/>
          <a:ext cx="0" cy="0"/>
          <a:chOff x="0" y="0"/>
          <a:chExt cx="0" cy="0"/>
        </a:xfrm>
      </p:grpSpPr>
      <p:sp>
        <p:nvSpPr>
          <p:cNvPr id="2" name="Text 0">
            <a:extLst>
              <a:ext uri="{FF2B5EF4-FFF2-40B4-BE49-F238E27FC236}">
                <a16:creationId xmlns:a16="http://schemas.microsoft.com/office/drawing/2014/main" id="{3E3336B0-EE4C-A316-119B-A982FA923E17}"/>
              </a:ext>
            </a:extLst>
          </p:cNvPr>
          <p:cNvSpPr/>
          <p:nvPr/>
        </p:nvSpPr>
        <p:spPr>
          <a:xfrm>
            <a:off x="863797" y="383349"/>
            <a:ext cx="12902803" cy="789622"/>
          </a:xfrm>
          <a:prstGeom prst="rect">
            <a:avLst/>
          </a:prstGeom>
          <a:noFill/>
          <a:ln/>
        </p:spPr>
        <p:txBody>
          <a:bodyPr wrap="square" lIns="0" tIns="0" rIns="0" bIns="0" rtlCol="0" anchor="t"/>
          <a:lstStyle/>
          <a:p>
            <a:pPr marL="0" indent="0" algn="l">
              <a:lnSpc>
                <a:spcPts val="6050"/>
              </a:lnSpc>
              <a:buNone/>
            </a:pPr>
            <a:r>
              <a:rPr lang="en-US" sz="4850" dirty="0">
                <a:solidFill>
                  <a:srgbClr val="F5F0F0"/>
                </a:solidFill>
                <a:latin typeface="Merriweather" pitchFamily="34" charset="0"/>
                <a:ea typeface="Merriweather" pitchFamily="34" charset="-122"/>
                <a:cs typeface="Merriweather" pitchFamily="34" charset="-120"/>
              </a:rPr>
              <a:t>Literature Review:</a:t>
            </a:r>
            <a:endParaRPr lang="en-US" sz="4850" dirty="0"/>
          </a:p>
        </p:txBody>
      </p:sp>
      <p:sp>
        <p:nvSpPr>
          <p:cNvPr id="8" name="Rectangle 7">
            <a:extLst>
              <a:ext uri="{FF2B5EF4-FFF2-40B4-BE49-F238E27FC236}">
                <a16:creationId xmlns:a16="http://schemas.microsoft.com/office/drawing/2014/main" id="{F20FBDF1-F095-C946-8398-AE148C914BE7}"/>
              </a:ext>
            </a:extLst>
          </p:cNvPr>
          <p:cNvSpPr/>
          <p:nvPr/>
        </p:nvSpPr>
        <p:spPr>
          <a:xfrm>
            <a:off x="12812751" y="7660888"/>
            <a:ext cx="1739590" cy="479502"/>
          </a:xfrm>
          <a:prstGeom prst="rect">
            <a:avLst/>
          </a:prstGeom>
          <a:solidFill>
            <a:srgbClr val="091519"/>
          </a:solidFill>
          <a:ln>
            <a:solidFill>
              <a:srgbClr val="091519"/>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graphicFrame>
        <p:nvGraphicFramePr>
          <p:cNvPr id="9" name="Table 8">
            <a:extLst>
              <a:ext uri="{FF2B5EF4-FFF2-40B4-BE49-F238E27FC236}">
                <a16:creationId xmlns:a16="http://schemas.microsoft.com/office/drawing/2014/main" id="{0992C83F-2C3D-C6E6-AAA6-2CA556EFBEF7}"/>
              </a:ext>
            </a:extLst>
          </p:cNvPr>
          <p:cNvGraphicFramePr>
            <a:graphicFrameLocks noGrp="1"/>
          </p:cNvGraphicFramePr>
          <p:nvPr>
            <p:extLst>
              <p:ext uri="{D42A27DB-BD31-4B8C-83A1-F6EECF244321}">
                <p14:modId xmlns:p14="http://schemas.microsoft.com/office/powerpoint/2010/main" val="3423441750"/>
              </p:ext>
            </p:extLst>
          </p:nvPr>
        </p:nvGraphicFramePr>
        <p:xfrm>
          <a:off x="252761" y="1293046"/>
          <a:ext cx="14110010" cy="6013233"/>
        </p:xfrm>
        <a:graphic>
          <a:graphicData uri="http://schemas.openxmlformats.org/drawingml/2006/table">
            <a:tbl>
              <a:tblPr firstRow="1" bandRow="1">
                <a:tableStyleId>{F5AB1C69-6EDB-4FF4-983F-18BD219EF322}</a:tableStyleId>
              </a:tblPr>
              <a:tblGrid>
                <a:gridCol w="973289">
                  <a:extLst>
                    <a:ext uri="{9D8B030D-6E8A-4147-A177-3AD203B41FA5}">
                      <a16:colId xmlns:a16="http://schemas.microsoft.com/office/drawing/2014/main" val="1218241935"/>
                    </a:ext>
                  </a:extLst>
                </a:gridCol>
                <a:gridCol w="3647033">
                  <a:extLst>
                    <a:ext uri="{9D8B030D-6E8A-4147-A177-3AD203B41FA5}">
                      <a16:colId xmlns:a16="http://schemas.microsoft.com/office/drawing/2014/main" val="1100304521"/>
                    </a:ext>
                  </a:extLst>
                </a:gridCol>
                <a:gridCol w="3267307">
                  <a:extLst>
                    <a:ext uri="{9D8B030D-6E8A-4147-A177-3AD203B41FA5}">
                      <a16:colId xmlns:a16="http://schemas.microsoft.com/office/drawing/2014/main" val="2083088469"/>
                    </a:ext>
                  </a:extLst>
                </a:gridCol>
                <a:gridCol w="3211551">
                  <a:extLst>
                    <a:ext uri="{9D8B030D-6E8A-4147-A177-3AD203B41FA5}">
                      <a16:colId xmlns:a16="http://schemas.microsoft.com/office/drawing/2014/main" val="901175214"/>
                    </a:ext>
                  </a:extLst>
                </a:gridCol>
                <a:gridCol w="3010830">
                  <a:extLst>
                    <a:ext uri="{9D8B030D-6E8A-4147-A177-3AD203B41FA5}">
                      <a16:colId xmlns:a16="http://schemas.microsoft.com/office/drawing/2014/main" val="2461183912"/>
                    </a:ext>
                  </a:extLst>
                </a:gridCol>
              </a:tblGrid>
              <a:tr h="892593">
                <a:tc>
                  <a:txBody>
                    <a:bodyPr/>
                    <a:lstStyle/>
                    <a:p>
                      <a:pPr algn="ctr"/>
                      <a:r>
                        <a:rPr lang="en-US" dirty="0">
                          <a:solidFill>
                            <a:schemeClr val="bg1"/>
                          </a:solidFill>
                        </a:rPr>
                        <a:t>S.No.</a:t>
                      </a:r>
                      <a:endParaRPr lang="en-IN" dirty="0">
                        <a:solidFill>
                          <a:schemeClr val="bg1"/>
                        </a:solidFill>
                      </a:endParaRPr>
                    </a:p>
                  </a:txBody>
                  <a:tcPr anchor="ctr">
                    <a:noFill/>
                  </a:tcPr>
                </a:tc>
                <a:tc>
                  <a:txBody>
                    <a:bodyPr/>
                    <a:lstStyle/>
                    <a:p>
                      <a:pPr algn="ctr"/>
                      <a:r>
                        <a:rPr lang="en-US" dirty="0">
                          <a:solidFill>
                            <a:schemeClr val="bg1"/>
                          </a:solidFill>
                        </a:rPr>
                        <a:t>Related Work</a:t>
                      </a:r>
                      <a:endParaRPr lang="en-IN" dirty="0">
                        <a:solidFill>
                          <a:schemeClr val="bg1"/>
                        </a:solidFill>
                      </a:endParaRPr>
                    </a:p>
                  </a:txBody>
                  <a:tcPr anchor="ctr">
                    <a:noFill/>
                  </a:tcPr>
                </a:tc>
                <a:tc>
                  <a:txBody>
                    <a:bodyPr/>
                    <a:lstStyle/>
                    <a:p>
                      <a:pPr algn="ctr"/>
                      <a:r>
                        <a:rPr lang="en-US" dirty="0">
                          <a:solidFill>
                            <a:schemeClr val="bg1"/>
                          </a:solidFill>
                        </a:rPr>
                        <a:t>Observations or Methodology</a:t>
                      </a:r>
                      <a:endParaRPr lang="en-IN" dirty="0">
                        <a:solidFill>
                          <a:schemeClr val="bg1"/>
                        </a:solidFill>
                      </a:endParaRPr>
                    </a:p>
                  </a:txBody>
                  <a:tcPr anchor="ctr">
                    <a:noFill/>
                  </a:tcPr>
                </a:tc>
                <a:tc>
                  <a:txBody>
                    <a:bodyPr/>
                    <a:lstStyle/>
                    <a:p>
                      <a:pPr algn="ctr"/>
                      <a:r>
                        <a:rPr lang="en-US" dirty="0">
                          <a:solidFill>
                            <a:schemeClr val="bg1"/>
                          </a:solidFill>
                        </a:rPr>
                        <a:t>Issues Identified</a:t>
                      </a:r>
                      <a:endParaRPr lang="en-IN" dirty="0">
                        <a:solidFill>
                          <a:schemeClr val="bg1"/>
                        </a:solidFill>
                      </a:endParaRPr>
                    </a:p>
                  </a:txBody>
                  <a:tcPr anchor="ctr">
                    <a:noFill/>
                  </a:tcPr>
                </a:tc>
                <a:tc>
                  <a:txBody>
                    <a:bodyPr/>
                    <a:lstStyle/>
                    <a:p>
                      <a:pPr algn="ctr"/>
                      <a:r>
                        <a:rPr lang="en-US" dirty="0">
                          <a:solidFill>
                            <a:schemeClr val="bg1"/>
                          </a:solidFill>
                        </a:rPr>
                        <a:t>Overcome in our work</a:t>
                      </a:r>
                      <a:endParaRPr lang="en-IN" dirty="0">
                        <a:solidFill>
                          <a:schemeClr val="bg1"/>
                        </a:solidFill>
                      </a:endParaRPr>
                    </a:p>
                  </a:txBody>
                  <a:tcPr anchor="ctr">
                    <a:noFill/>
                  </a:tcPr>
                </a:tc>
                <a:extLst>
                  <a:ext uri="{0D108BD9-81ED-4DB2-BD59-A6C34878D82A}">
                    <a16:rowId xmlns:a16="http://schemas.microsoft.com/office/drawing/2014/main" val="3248482832"/>
                  </a:ext>
                </a:extLst>
              </a:tr>
              <a:tr h="1754187">
                <a:tc>
                  <a:txBody>
                    <a:bodyPr/>
                    <a:lstStyle/>
                    <a:p>
                      <a:pPr algn="ctr"/>
                      <a:r>
                        <a:rPr lang="en-US" dirty="0">
                          <a:solidFill>
                            <a:schemeClr val="bg1"/>
                          </a:solidFill>
                        </a:rPr>
                        <a:t>3.</a:t>
                      </a:r>
                      <a:endParaRPr lang="en-IN" dirty="0">
                        <a:solidFill>
                          <a:schemeClr val="bg1"/>
                        </a:solidFill>
                      </a:endParaRPr>
                    </a:p>
                  </a:txBody>
                  <a:tcPr anchor="ctr">
                    <a:noFill/>
                  </a:tcPr>
                </a:tc>
                <a:tc>
                  <a:txBody>
                    <a:bodyPr/>
                    <a:lstStyle/>
                    <a:p>
                      <a:pPr algn="ctr"/>
                      <a:r>
                        <a:rPr lang="en-IN" b="0" i="0" dirty="0">
                          <a:solidFill>
                            <a:schemeClr val="bg1"/>
                          </a:solidFill>
                          <a:effectLst/>
                          <a:latin typeface="Arial" panose="020B0604020202020204" pitchFamily="34" charset="0"/>
                        </a:rPr>
                        <a:t>Gode, Chetan S., 2022</a:t>
                      </a:r>
                      <a:endParaRPr lang="en-US" b="0" dirty="0">
                        <a:solidFill>
                          <a:schemeClr val="bg1"/>
                        </a:solidFill>
                      </a:endParaRPr>
                    </a:p>
                  </a:txBody>
                  <a:tcPr anchor="ctr">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dirty="0">
                          <a:solidFill>
                            <a:schemeClr val="bg1"/>
                          </a:solidFill>
                        </a:rPr>
                        <a:t>The system utilizes facial recognition to automate attendance marking, aiming to reduce errors and time consumption associated with traditional methods. However, the paper does not provide specific details on the algorithms or datasets employed.</a:t>
                      </a:r>
                    </a:p>
                    <a:p>
                      <a:pPr algn="ctr"/>
                      <a:endParaRPr lang="en-IN" i="0" dirty="0">
                        <a:solidFill>
                          <a:schemeClr val="bg1"/>
                        </a:solidFill>
                      </a:endParaRPr>
                    </a:p>
                  </a:txBody>
                  <a:tcPr anchor="ctr">
                    <a:noFill/>
                  </a:tcPr>
                </a:tc>
                <a:tc>
                  <a:txBody>
                    <a:bodyPr/>
                    <a:lstStyle/>
                    <a:p>
                      <a:pPr algn="ctr"/>
                      <a:r>
                        <a:rPr lang="en-US" dirty="0">
                          <a:solidFill>
                            <a:schemeClr val="bg1"/>
                          </a:solidFill>
                        </a:rPr>
                        <a:t>The paper lacks detailed information on the specific face recognition algorithms and datasets used, making it challenging to assess the system's robustness and generalizability.</a:t>
                      </a:r>
                    </a:p>
                  </a:txBody>
                  <a:tcPr anchor="ctr">
                    <a:noFill/>
                  </a:tcPr>
                </a:tc>
                <a:tc>
                  <a:txBody>
                    <a:bodyPr/>
                    <a:lstStyle/>
                    <a:p>
                      <a:pPr algn="ctr"/>
                      <a:r>
                        <a:rPr lang="en-US" dirty="0">
                          <a:solidFill>
                            <a:schemeClr val="bg1"/>
                          </a:solidFill>
                        </a:rPr>
                        <a:t>This project employs advanced deep learning models trained on diverse datasets, ensuring higher accuracy and adaptability across various real-world scenarios.</a:t>
                      </a:r>
                    </a:p>
                  </a:txBody>
                  <a:tcPr anchor="ctr">
                    <a:noFill/>
                  </a:tcPr>
                </a:tc>
                <a:extLst>
                  <a:ext uri="{0D108BD9-81ED-4DB2-BD59-A6C34878D82A}">
                    <a16:rowId xmlns:a16="http://schemas.microsoft.com/office/drawing/2014/main" val="621208768"/>
                  </a:ext>
                </a:extLst>
              </a:tr>
              <a:tr h="1754187">
                <a:tc>
                  <a:txBody>
                    <a:bodyPr/>
                    <a:lstStyle/>
                    <a:p>
                      <a:pPr algn="ctr"/>
                      <a:r>
                        <a:rPr lang="en-US" dirty="0">
                          <a:solidFill>
                            <a:schemeClr val="bg1"/>
                          </a:solidFill>
                        </a:rPr>
                        <a:t>4.</a:t>
                      </a:r>
                      <a:endParaRPr lang="en-IN" dirty="0">
                        <a:solidFill>
                          <a:schemeClr val="bg1"/>
                        </a:solidFill>
                      </a:endParaRPr>
                    </a:p>
                  </a:txBody>
                  <a:tcPr anchor="ctr">
                    <a:noFill/>
                  </a:tcPr>
                </a:tc>
                <a:tc>
                  <a:txBody>
                    <a:bodyPr/>
                    <a:lstStyle/>
                    <a:p>
                      <a:pPr algn="ctr"/>
                      <a:r>
                        <a:rPr lang="en-US" b="0" i="0" dirty="0">
                          <a:solidFill>
                            <a:schemeClr val="bg1"/>
                          </a:solidFill>
                          <a:effectLst/>
                          <a:latin typeface="Arial" panose="020B0604020202020204" pitchFamily="34" charset="0"/>
                        </a:rPr>
                        <a:t>Prajapati, Harshit, and Ashwani Kumar Mishra, 2025</a:t>
                      </a:r>
                      <a:endParaRPr lang="en-IN" dirty="0">
                        <a:solidFill>
                          <a:schemeClr val="bg1"/>
                        </a:solidFill>
                      </a:endParaRPr>
                    </a:p>
                  </a:txBody>
                  <a:tcPr anchor="ctr">
                    <a:noFill/>
                  </a:tcPr>
                </a:tc>
                <a:tc>
                  <a:txBody>
                    <a:bodyPr/>
                    <a:lstStyle/>
                    <a:p>
                      <a:pPr algn="ctr"/>
                      <a:r>
                        <a:rPr lang="en-US" dirty="0">
                          <a:solidFill>
                            <a:schemeClr val="bg1"/>
                          </a:solidFill>
                        </a:rPr>
                        <a:t>The paper studies the implementation and effectiveness of a face recognition attendance system, focusing on integration, performance, and user feedback, but lacks details on the algorithms and datasets used.</a:t>
                      </a:r>
                    </a:p>
                  </a:txBody>
                  <a:tcPr anchor="ctr">
                    <a:noFill/>
                  </a:tcPr>
                </a:tc>
                <a:tc>
                  <a:txBody>
                    <a:bodyPr/>
                    <a:lstStyle/>
                    <a:p>
                      <a:pPr algn="ctr"/>
                      <a:r>
                        <a:rPr lang="en-US" dirty="0">
                          <a:solidFill>
                            <a:schemeClr val="bg1"/>
                          </a:solidFill>
                        </a:rPr>
                        <a:t>The study lacks detailed information on the specific face recognition algorithms and datasets used, making it challenging to assess the system's robustness and generalizability.</a:t>
                      </a:r>
                    </a:p>
                  </a:txBody>
                  <a:tcPr anchor="ctr">
                    <a:noFill/>
                  </a:tcPr>
                </a:tc>
                <a:tc>
                  <a:txBody>
                    <a:bodyPr/>
                    <a:lstStyle/>
                    <a:p>
                      <a:pPr algn="ctr"/>
                      <a:r>
                        <a:rPr lang="en-US" dirty="0">
                          <a:solidFill>
                            <a:schemeClr val="bg1"/>
                          </a:solidFill>
                        </a:rPr>
                        <a:t>This project employs advanced deep learning models trained on diverse datasets, ensuring higher accuracy and adaptability across various real-world scenarios.</a:t>
                      </a:r>
                    </a:p>
                  </a:txBody>
                  <a:tcPr anchor="ctr">
                    <a:noFill/>
                  </a:tcPr>
                </a:tc>
                <a:extLst>
                  <a:ext uri="{0D108BD9-81ED-4DB2-BD59-A6C34878D82A}">
                    <a16:rowId xmlns:a16="http://schemas.microsoft.com/office/drawing/2014/main" val="1330933069"/>
                  </a:ext>
                </a:extLst>
              </a:tr>
            </a:tbl>
          </a:graphicData>
        </a:graphic>
      </p:graphicFrame>
    </p:spTree>
    <p:extLst>
      <p:ext uri="{BB962C8B-B14F-4D97-AF65-F5344CB8AC3E}">
        <p14:creationId xmlns:p14="http://schemas.microsoft.com/office/powerpoint/2010/main" val="208234304"/>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F28945C-15A4-24BE-7B5A-16BF3CCCBF98}"/>
            </a:ext>
          </a:extLst>
        </p:cNvPr>
        <p:cNvGrpSpPr/>
        <p:nvPr/>
      </p:nvGrpSpPr>
      <p:grpSpPr>
        <a:xfrm>
          <a:off x="0" y="0"/>
          <a:ext cx="0" cy="0"/>
          <a:chOff x="0" y="0"/>
          <a:chExt cx="0" cy="0"/>
        </a:xfrm>
      </p:grpSpPr>
      <p:sp>
        <p:nvSpPr>
          <p:cNvPr id="2" name="Text 0">
            <a:extLst>
              <a:ext uri="{FF2B5EF4-FFF2-40B4-BE49-F238E27FC236}">
                <a16:creationId xmlns:a16="http://schemas.microsoft.com/office/drawing/2014/main" id="{A74F0E91-4634-63D4-991E-0037C5077FA5}"/>
              </a:ext>
            </a:extLst>
          </p:cNvPr>
          <p:cNvSpPr/>
          <p:nvPr/>
        </p:nvSpPr>
        <p:spPr>
          <a:xfrm>
            <a:off x="863797" y="383349"/>
            <a:ext cx="12902803" cy="789622"/>
          </a:xfrm>
          <a:prstGeom prst="rect">
            <a:avLst/>
          </a:prstGeom>
          <a:noFill/>
          <a:ln/>
        </p:spPr>
        <p:txBody>
          <a:bodyPr wrap="square" lIns="0" tIns="0" rIns="0" bIns="0" rtlCol="0" anchor="t"/>
          <a:lstStyle/>
          <a:p>
            <a:pPr marL="0" indent="0" algn="l">
              <a:lnSpc>
                <a:spcPts val="6050"/>
              </a:lnSpc>
              <a:buNone/>
            </a:pPr>
            <a:r>
              <a:rPr lang="en-US" sz="4850" dirty="0">
                <a:solidFill>
                  <a:srgbClr val="F5F0F0"/>
                </a:solidFill>
                <a:latin typeface="Merriweather" pitchFamily="34" charset="0"/>
                <a:ea typeface="Merriweather" pitchFamily="34" charset="-122"/>
                <a:cs typeface="Merriweather" pitchFamily="34" charset="-120"/>
              </a:rPr>
              <a:t>Literature Review:</a:t>
            </a:r>
            <a:endParaRPr lang="en-US" sz="4850" dirty="0"/>
          </a:p>
        </p:txBody>
      </p:sp>
      <p:sp>
        <p:nvSpPr>
          <p:cNvPr id="8" name="Rectangle 7">
            <a:extLst>
              <a:ext uri="{FF2B5EF4-FFF2-40B4-BE49-F238E27FC236}">
                <a16:creationId xmlns:a16="http://schemas.microsoft.com/office/drawing/2014/main" id="{D5763E38-B75F-FEA8-EF6D-178A79AEE654}"/>
              </a:ext>
            </a:extLst>
          </p:cNvPr>
          <p:cNvSpPr/>
          <p:nvPr/>
        </p:nvSpPr>
        <p:spPr>
          <a:xfrm>
            <a:off x="12812751" y="7660888"/>
            <a:ext cx="1739590" cy="479502"/>
          </a:xfrm>
          <a:prstGeom prst="rect">
            <a:avLst/>
          </a:prstGeom>
          <a:solidFill>
            <a:srgbClr val="091519"/>
          </a:solidFill>
          <a:ln>
            <a:solidFill>
              <a:srgbClr val="091519"/>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graphicFrame>
        <p:nvGraphicFramePr>
          <p:cNvPr id="9" name="Table 8">
            <a:extLst>
              <a:ext uri="{FF2B5EF4-FFF2-40B4-BE49-F238E27FC236}">
                <a16:creationId xmlns:a16="http://schemas.microsoft.com/office/drawing/2014/main" id="{880D3F59-97A2-FAF5-80CD-FEFB2A8FB76E}"/>
              </a:ext>
            </a:extLst>
          </p:cNvPr>
          <p:cNvGraphicFramePr>
            <a:graphicFrameLocks noGrp="1"/>
          </p:cNvGraphicFramePr>
          <p:nvPr>
            <p:extLst>
              <p:ext uri="{D42A27DB-BD31-4B8C-83A1-F6EECF244321}">
                <p14:modId xmlns:p14="http://schemas.microsoft.com/office/powerpoint/2010/main" val="3081072260"/>
              </p:ext>
            </p:extLst>
          </p:nvPr>
        </p:nvGraphicFramePr>
        <p:xfrm>
          <a:off x="260193" y="1512656"/>
          <a:ext cx="14110010" cy="2904273"/>
        </p:xfrm>
        <a:graphic>
          <a:graphicData uri="http://schemas.openxmlformats.org/drawingml/2006/table">
            <a:tbl>
              <a:tblPr firstRow="1" bandRow="1">
                <a:tableStyleId>{F5AB1C69-6EDB-4FF4-983F-18BD219EF322}</a:tableStyleId>
              </a:tblPr>
              <a:tblGrid>
                <a:gridCol w="973289">
                  <a:extLst>
                    <a:ext uri="{9D8B030D-6E8A-4147-A177-3AD203B41FA5}">
                      <a16:colId xmlns:a16="http://schemas.microsoft.com/office/drawing/2014/main" val="1218241935"/>
                    </a:ext>
                  </a:extLst>
                </a:gridCol>
                <a:gridCol w="3647033">
                  <a:extLst>
                    <a:ext uri="{9D8B030D-6E8A-4147-A177-3AD203B41FA5}">
                      <a16:colId xmlns:a16="http://schemas.microsoft.com/office/drawing/2014/main" val="1100304521"/>
                    </a:ext>
                  </a:extLst>
                </a:gridCol>
                <a:gridCol w="3267307">
                  <a:extLst>
                    <a:ext uri="{9D8B030D-6E8A-4147-A177-3AD203B41FA5}">
                      <a16:colId xmlns:a16="http://schemas.microsoft.com/office/drawing/2014/main" val="2083088469"/>
                    </a:ext>
                  </a:extLst>
                </a:gridCol>
                <a:gridCol w="3211551">
                  <a:extLst>
                    <a:ext uri="{9D8B030D-6E8A-4147-A177-3AD203B41FA5}">
                      <a16:colId xmlns:a16="http://schemas.microsoft.com/office/drawing/2014/main" val="901175214"/>
                    </a:ext>
                  </a:extLst>
                </a:gridCol>
                <a:gridCol w="3010830">
                  <a:extLst>
                    <a:ext uri="{9D8B030D-6E8A-4147-A177-3AD203B41FA5}">
                      <a16:colId xmlns:a16="http://schemas.microsoft.com/office/drawing/2014/main" val="2461183912"/>
                    </a:ext>
                  </a:extLst>
                </a:gridCol>
              </a:tblGrid>
              <a:tr h="892593">
                <a:tc>
                  <a:txBody>
                    <a:bodyPr/>
                    <a:lstStyle/>
                    <a:p>
                      <a:pPr algn="ctr"/>
                      <a:r>
                        <a:rPr lang="en-US" dirty="0">
                          <a:solidFill>
                            <a:schemeClr val="bg1"/>
                          </a:solidFill>
                        </a:rPr>
                        <a:t>S.No.</a:t>
                      </a:r>
                      <a:endParaRPr lang="en-IN" dirty="0">
                        <a:solidFill>
                          <a:schemeClr val="bg1"/>
                        </a:solidFill>
                      </a:endParaRPr>
                    </a:p>
                  </a:txBody>
                  <a:tcPr anchor="ctr">
                    <a:noFill/>
                  </a:tcPr>
                </a:tc>
                <a:tc>
                  <a:txBody>
                    <a:bodyPr/>
                    <a:lstStyle/>
                    <a:p>
                      <a:pPr algn="ctr"/>
                      <a:r>
                        <a:rPr lang="en-US" dirty="0">
                          <a:solidFill>
                            <a:schemeClr val="bg1"/>
                          </a:solidFill>
                        </a:rPr>
                        <a:t>Related Work</a:t>
                      </a:r>
                      <a:endParaRPr lang="en-IN" dirty="0">
                        <a:solidFill>
                          <a:schemeClr val="bg1"/>
                        </a:solidFill>
                      </a:endParaRPr>
                    </a:p>
                  </a:txBody>
                  <a:tcPr anchor="ctr">
                    <a:noFill/>
                  </a:tcPr>
                </a:tc>
                <a:tc>
                  <a:txBody>
                    <a:bodyPr/>
                    <a:lstStyle/>
                    <a:p>
                      <a:pPr algn="ctr"/>
                      <a:r>
                        <a:rPr lang="en-US" dirty="0">
                          <a:solidFill>
                            <a:schemeClr val="bg1"/>
                          </a:solidFill>
                        </a:rPr>
                        <a:t>Observations or Methodology</a:t>
                      </a:r>
                      <a:endParaRPr lang="en-IN" dirty="0">
                        <a:solidFill>
                          <a:schemeClr val="bg1"/>
                        </a:solidFill>
                      </a:endParaRPr>
                    </a:p>
                  </a:txBody>
                  <a:tcPr anchor="ctr">
                    <a:noFill/>
                  </a:tcPr>
                </a:tc>
                <a:tc>
                  <a:txBody>
                    <a:bodyPr/>
                    <a:lstStyle/>
                    <a:p>
                      <a:pPr algn="ctr"/>
                      <a:r>
                        <a:rPr lang="en-US" dirty="0">
                          <a:solidFill>
                            <a:schemeClr val="bg1"/>
                          </a:solidFill>
                        </a:rPr>
                        <a:t>Issues Identified</a:t>
                      </a:r>
                      <a:endParaRPr lang="en-IN" dirty="0">
                        <a:solidFill>
                          <a:schemeClr val="bg1"/>
                        </a:solidFill>
                      </a:endParaRPr>
                    </a:p>
                  </a:txBody>
                  <a:tcPr anchor="ctr">
                    <a:noFill/>
                  </a:tcPr>
                </a:tc>
                <a:tc>
                  <a:txBody>
                    <a:bodyPr/>
                    <a:lstStyle/>
                    <a:p>
                      <a:pPr algn="ctr"/>
                      <a:r>
                        <a:rPr lang="en-US" dirty="0">
                          <a:solidFill>
                            <a:schemeClr val="bg1"/>
                          </a:solidFill>
                        </a:rPr>
                        <a:t>Overcome in our work</a:t>
                      </a:r>
                      <a:endParaRPr lang="en-IN" dirty="0">
                        <a:solidFill>
                          <a:schemeClr val="bg1"/>
                        </a:solidFill>
                      </a:endParaRPr>
                    </a:p>
                  </a:txBody>
                  <a:tcPr anchor="ctr">
                    <a:noFill/>
                  </a:tcPr>
                </a:tc>
                <a:extLst>
                  <a:ext uri="{0D108BD9-81ED-4DB2-BD59-A6C34878D82A}">
                    <a16:rowId xmlns:a16="http://schemas.microsoft.com/office/drawing/2014/main" val="3248482832"/>
                  </a:ext>
                </a:extLst>
              </a:tr>
              <a:tr h="1754187">
                <a:tc>
                  <a:txBody>
                    <a:bodyPr/>
                    <a:lstStyle/>
                    <a:p>
                      <a:pPr algn="ctr"/>
                      <a:r>
                        <a:rPr lang="en-US" dirty="0">
                          <a:solidFill>
                            <a:schemeClr val="bg1"/>
                          </a:solidFill>
                        </a:rPr>
                        <a:t>5.</a:t>
                      </a:r>
                      <a:endParaRPr lang="en-IN" dirty="0">
                        <a:solidFill>
                          <a:schemeClr val="bg1"/>
                        </a:solidFill>
                      </a:endParaRPr>
                    </a:p>
                  </a:txBody>
                  <a:tcPr anchor="ctr">
                    <a:noFill/>
                  </a:tcPr>
                </a:tc>
                <a:tc>
                  <a:txBody>
                    <a:bodyPr/>
                    <a:lstStyle/>
                    <a:p>
                      <a:pPr algn="ctr"/>
                      <a:r>
                        <a:rPr lang="en-US" b="0" i="0" dirty="0">
                          <a:solidFill>
                            <a:schemeClr val="bg1"/>
                          </a:solidFill>
                          <a:effectLst/>
                          <a:latin typeface="Arial" panose="020B0604020202020204" pitchFamily="34" charset="0"/>
                        </a:rPr>
                        <a:t>Shaheer, S., 2024</a:t>
                      </a:r>
                      <a:endParaRPr lang="en-US" b="0" dirty="0">
                        <a:solidFill>
                          <a:schemeClr val="bg1"/>
                        </a:solidFill>
                      </a:endParaRPr>
                    </a:p>
                  </a:txBody>
                  <a:tcPr anchor="ctr">
                    <a:noFill/>
                  </a:tcPr>
                </a:tc>
                <a:tc>
                  <a:txBody>
                    <a:bodyPr/>
                    <a:lstStyle/>
                    <a:p>
                      <a:pPr algn="ctr"/>
                      <a:r>
                        <a:rPr lang="en-US" dirty="0">
                          <a:solidFill>
                            <a:schemeClr val="bg1"/>
                          </a:solidFill>
                        </a:rPr>
                        <a:t>The paper presents a face recognition-based attendance system developed using Python. However, it does not provide specific details on the algorithms or datasets employed.</a:t>
                      </a:r>
                    </a:p>
                    <a:p>
                      <a:pPr algn="ctr"/>
                      <a:endParaRPr lang="en-IN" i="0" dirty="0">
                        <a:solidFill>
                          <a:schemeClr val="bg1"/>
                        </a:solidFill>
                      </a:endParaRPr>
                    </a:p>
                  </a:txBody>
                  <a:tcPr anchor="ctr">
                    <a:noFill/>
                  </a:tcPr>
                </a:tc>
                <a:tc>
                  <a:txBody>
                    <a:bodyPr/>
                    <a:lstStyle/>
                    <a:p>
                      <a:pPr algn="ctr"/>
                      <a:r>
                        <a:rPr lang="en-US" dirty="0">
                          <a:solidFill>
                            <a:schemeClr val="bg1"/>
                          </a:solidFill>
                        </a:rPr>
                        <a:t>The paper lacks detailed information on the specific face recognition algorithms and datasets used, making it challenging to assess the system's robustness and generalizability.</a:t>
                      </a:r>
                    </a:p>
                  </a:txBody>
                  <a:tcPr anchor="ctr">
                    <a:noFill/>
                  </a:tcPr>
                </a:tc>
                <a:tc>
                  <a:txBody>
                    <a:bodyPr/>
                    <a:lstStyle/>
                    <a:p>
                      <a:pPr algn="ctr"/>
                      <a:r>
                        <a:rPr lang="en-US" dirty="0">
                          <a:solidFill>
                            <a:schemeClr val="bg1"/>
                          </a:solidFill>
                        </a:rPr>
                        <a:t>This project employs advanced deep learning models trained on diverse datasets, ensuring higher accuracy and adaptability across various real-world scenarios.</a:t>
                      </a:r>
                    </a:p>
                  </a:txBody>
                  <a:tcPr anchor="ctr">
                    <a:noFill/>
                  </a:tcPr>
                </a:tc>
                <a:extLst>
                  <a:ext uri="{0D108BD9-81ED-4DB2-BD59-A6C34878D82A}">
                    <a16:rowId xmlns:a16="http://schemas.microsoft.com/office/drawing/2014/main" val="621208768"/>
                  </a:ext>
                </a:extLst>
              </a:tr>
            </a:tbl>
          </a:graphicData>
        </a:graphic>
      </p:graphicFrame>
    </p:spTree>
    <p:extLst>
      <p:ext uri="{BB962C8B-B14F-4D97-AF65-F5344CB8AC3E}">
        <p14:creationId xmlns:p14="http://schemas.microsoft.com/office/powerpoint/2010/main" val="294180867"/>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tretch>
            <a:fillRect/>
          </a:stretch>
        </p:blipFill>
        <p:spPr>
          <a:xfrm>
            <a:off x="0" y="0"/>
            <a:ext cx="14630400" cy="2672715"/>
          </a:xfrm>
          <a:prstGeom prst="rect">
            <a:avLst/>
          </a:prstGeom>
        </p:spPr>
      </p:pic>
      <p:sp>
        <p:nvSpPr>
          <p:cNvPr id="3" name="Text 0"/>
          <p:cNvSpPr/>
          <p:nvPr/>
        </p:nvSpPr>
        <p:spPr>
          <a:xfrm>
            <a:off x="748308" y="3260765"/>
            <a:ext cx="10840283" cy="668179"/>
          </a:xfrm>
          <a:prstGeom prst="rect">
            <a:avLst/>
          </a:prstGeom>
          <a:noFill/>
          <a:ln/>
        </p:spPr>
        <p:txBody>
          <a:bodyPr wrap="none" lIns="0" tIns="0" rIns="0" bIns="0" rtlCol="0" anchor="t"/>
          <a:lstStyle/>
          <a:p>
            <a:pPr marL="0" indent="0" algn="l">
              <a:lnSpc>
                <a:spcPts val="5250"/>
              </a:lnSpc>
              <a:buNone/>
            </a:pPr>
            <a:r>
              <a:rPr lang="en-US" sz="4200" dirty="0">
                <a:solidFill>
                  <a:srgbClr val="F5F0F0"/>
                </a:solidFill>
                <a:latin typeface="Merriweather" pitchFamily="34" charset="0"/>
                <a:ea typeface="Merriweather" pitchFamily="34" charset="-122"/>
                <a:cs typeface="Merriweather" pitchFamily="34" charset="-120"/>
              </a:rPr>
              <a:t>Problem Statement: Challenges to Address</a:t>
            </a:r>
            <a:endParaRPr lang="en-US" sz="4200" dirty="0"/>
          </a:p>
        </p:txBody>
      </p:sp>
      <p:sp>
        <p:nvSpPr>
          <p:cNvPr id="4" name="Shape 1"/>
          <p:cNvSpPr/>
          <p:nvPr/>
        </p:nvSpPr>
        <p:spPr>
          <a:xfrm>
            <a:off x="748308" y="4249579"/>
            <a:ext cx="12912447" cy="3411309"/>
          </a:xfrm>
          <a:prstGeom prst="roundRect">
            <a:avLst>
              <a:gd name="adj" fmla="val 5651"/>
            </a:avLst>
          </a:prstGeom>
          <a:solidFill>
            <a:srgbClr val="003180"/>
          </a:solidFill>
          <a:ln w="7620">
            <a:solidFill>
              <a:srgbClr val="194A99"/>
            </a:solidFill>
            <a:prstDash val="solid"/>
          </a:ln>
        </p:spPr>
      </p:sp>
      <p:sp>
        <p:nvSpPr>
          <p:cNvPr id="6" name="Text 3"/>
          <p:cNvSpPr/>
          <p:nvPr/>
        </p:nvSpPr>
        <p:spPr>
          <a:xfrm>
            <a:off x="969646" y="4516994"/>
            <a:ext cx="12445272" cy="2823259"/>
          </a:xfrm>
          <a:prstGeom prst="rect">
            <a:avLst/>
          </a:prstGeom>
          <a:noFill/>
          <a:ln/>
        </p:spPr>
        <p:txBody>
          <a:bodyPr wrap="square" lIns="0" tIns="0" rIns="0" bIns="0" rtlCol="0" anchor="t"/>
          <a:lstStyle/>
          <a:p>
            <a:pPr marR="0" lvl="0" algn="l" defTabSz="914400" rtl="0" eaLnBrk="0" fontAlgn="base" latinLnBrk="0" hangingPunct="0">
              <a:lnSpc>
                <a:spcPct val="150000"/>
              </a:lnSpc>
              <a:spcBef>
                <a:spcPct val="0"/>
              </a:spcBef>
              <a:spcAft>
                <a:spcPct val="0"/>
              </a:spcAft>
              <a:buClrTx/>
              <a:buSzTx/>
              <a:tabLst/>
            </a:pPr>
            <a:r>
              <a:rPr kumimoji="0" lang="en-US" altLang="en-US" sz="2000" b="1" i="0" u="none" strike="noStrike" cap="none" normalizeH="0" baseline="0" dirty="0">
                <a:ln>
                  <a:noFill/>
                </a:ln>
                <a:solidFill>
                  <a:schemeClr val="bg1"/>
                </a:solidFill>
                <a:effectLst/>
                <a:latin typeface="Merriweather" panose="00000500000000000000" pitchFamily="2" charset="0"/>
              </a:rPr>
              <a:t>Outdated Methods</a:t>
            </a:r>
            <a:r>
              <a:rPr kumimoji="0" lang="en-US" altLang="en-US" sz="2000" b="0" i="0" u="none" strike="noStrike" cap="none" normalizeH="0" baseline="0" dirty="0">
                <a:ln>
                  <a:noFill/>
                </a:ln>
                <a:solidFill>
                  <a:schemeClr val="bg1"/>
                </a:solidFill>
                <a:effectLst/>
                <a:latin typeface="Merriweather" panose="00000500000000000000" pitchFamily="2" charset="0"/>
              </a:rPr>
              <a:t>: Manual and semi-automated attendance systems are no longer effective or secure.</a:t>
            </a:r>
          </a:p>
          <a:p>
            <a:pPr marL="0" marR="0" lvl="0" indent="0" algn="l" defTabSz="914400" rtl="0" eaLnBrk="0" fontAlgn="base" latinLnBrk="0" hangingPunct="0">
              <a:lnSpc>
                <a:spcPct val="150000"/>
              </a:lnSpc>
              <a:spcBef>
                <a:spcPct val="0"/>
              </a:spcBef>
              <a:spcAft>
                <a:spcPct val="0"/>
              </a:spcAft>
              <a:buClrTx/>
              <a:buSzTx/>
              <a:tabLst/>
            </a:pPr>
            <a:r>
              <a:rPr kumimoji="0" lang="en-US" altLang="en-US" sz="2000" b="1" i="0" u="none" strike="noStrike" cap="none" normalizeH="0" baseline="0" dirty="0">
                <a:ln>
                  <a:noFill/>
                </a:ln>
                <a:solidFill>
                  <a:schemeClr val="bg1"/>
                </a:solidFill>
                <a:effectLst/>
                <a:latin typeface="Merriweather" panose="00000500000000000000" pitchFamily="2" charset="0"/>
              </a:rPr>
              <a:t>Proxy Issues</a:t>
            </a:r>
            <a:r>
              <a:rPr kumimoji="0" lang="en-US" altLang="en-US" sz="2000" b="0" i="0" u="none" strike="noStrike" cap="none" normalizeH="0" baseline="0" dirty="0">
                <a:ln>
                  <a:noFill/>
                </a:ln>
                <a:solidFill>
                  <a:schemeClr val="bg1"/>
                </a:solidFill>
                <a:effectLst/>
                <a:latin typeface="Merriweather" panose="00000500000000000000" pitchFamily="2" charset="0"/>
              </a:rPr>
              <a:t>: Existing systems cannot prevent fake or proxy attendance.</a:t>
            </a:r>
          </a:p>
          <a:p>
            <a:pPr marL="0" marR="0" lvl="0" indent="0" algn="l" defTabSz="914400" rtl="0" eaLnBrk="0" fontAlgn="base" latinLnBrk="0" hangingPunct="0">
              <a:lnSpc>
                <a:spcPct val="150000"/>
              </a:lnSpc>
              <a:spcBef>
                <a:spcPct val="0"/>
              </a:spcBef>
              <a:spcAft>
                <a:spcPct val="0"/>
              </a:spcAft>
              <a:buClrTx/>
              <a:buSzTx/>
              <a:tabLst/>
            </a:pPr>
            <a:r>
              <a:rPr kumimoji="0" lang="en-US" altLang="en-US" sz="2000" b="1" i="0" u="none" strike="noStrike" cap="none" normalizeH="0" baseline="0" dirty="0">
                <a:ln>
                  <a:noFill/>
                </a:ln>
                <a:solidFill>
                  <a:schemeClr val="bg1"/>
                </a:solidFill>
                <a:effectLst/>
                <a:latin typeface="Merriweather" panose="00000500000000000000" pitchFamily="2" charset="0"/>
              </a:rPr>
              <a:t>Hygiene Risks</a:t>
            </a:r>
            <a:r>
              <a:rPr kumimoji="0" lang="en-US" altLang="en-US" sz="2000" b="0" i="0" u="none" strike="noStrike" cap="none" normalizeH="0" baseline="0" dirty="0">
                <a:ln>
                  <a:noFill/>
                </a:ln>
                <a:solidFill>
                  <a:schemeClr val="bg1"/>
                </a:solidFill>
                <a:effectLst/>
                <a:latin typeface="Merriweather" panose="00000500000000000000" pitchFamily="2" charset="0"/>
              </a:rPr>
              <a:t>: Physical biometric devices pose health concerns, especially during pandemics.</a:t>
            </a:r>
          </a:p>
          <a:p>
            <a:pPr marL="0" marR="0" lvl="0" indent="0" algn="l" defTabSz="914400" rtl="0" eaLnBrk="0" fontAlgn="base" latinLnBrk="0" hangingPunct="0">
              <a:lnSpc>
                <a:spcPct val="150000"/>
              </a:lnSpc>
              <a:spcBef>
                <a:spcPct val="0"/>
              </a:spcBef>
              <a:spcAft>
                <a:spcPct val="0"/>
              </a:spcAft>
              <a:buClrTx/>
              <a:buSzTx/>
              <a:tabLst/>
            </a:pPr>
            <a:r>
              <a:rPr kumimoji="0" lang="en-US" altLang="en-US" sz="2000" b="1" i="0" u="none" strike="noStrike" cap="none" normalizeH="0" baseline="0" dirty="0">
                <a:ln>
                  <a:noFill/>
                </a:ln>
                <a:solidFill>
                  <a:schemeClr val="bg1"/>
                </a:solidFill>
                <a:effectLst/>
                <a:latin typeface="Merriweather" panose="00000500000000000000" pitchFamily="2" charset="0"/>
              </a:rPr>
              <a:t>Need for Innovation</a:t>
            </a:r>
            <a:r>
              <a:rPr kumimoji="0" lang="en-US" altLang="en-US" sz="2000" b="0" i="0" u="none" strike="noStrike" cap="none" normalizeH="0" baseline="0" dirty="0">
                <a:ln>
                  <a:noFill/>
                </a:ln>
                <a:solidFill>
                  <a:schemeClr val="bg1"/>
                </a:solidFill>
                <a:effectLst/>
                <a:latin typeface="Merriweather" panose="00000500000000000000" pitchFamily="2" charset="0"/>
              </a:rPr>
              <a:t>: A contactless, reliable, and user-friendly attendance solution is essential.</a:t>
            </a:r>
          </a:p>
          <a:p>
            <a:pPr marL="0" indent="0" algn="l">
              <a:lnSpc>
                <a:spcPts val="2650"/>
              </a:lnSpc>
              <a:buNone/>
            </a:pPr>
            <a:endParaRPr lang="en-US" sz="1650" dirty="0"/>
          </a:p>
        </p:txBody>
      </p:sp>
      <p:sp>
        <p:nvSpPr>
          <p:cNvPr id="16" name="Rectangle 15">
            <a:extLst>
              <a:ext uri="{FF2B5EF4-FFF2-40B4-BE49-F238E27FC236}">
                <a16:creationId xmlns:a16="http://schemas.microsoft.com/office/drawing/2014/main" id="{11389AB2-DDD9-6665-45E5-51F0BCEDE310}"/>
              </a:ext>
            </a:extLst>
          </p:cNvPr>
          <p:cNvSpPr/>
          <p:nvPr/>
        </p:nvSpPr>
        <p:spPr>
          <a:xfrm>
            <a:off x="12790960" y="7688552"/>
            <a:ext cx="1739590" cy="479502"/>
          </a:xfrm>
          <a:prstGeom prst="rect">
            <a:avLst/>
          </a:prstGeom>
          <a:solidFill>
            <a:srgbClr val="091519"/>
          </a:solidFill>
          <a:ln>
            <a:solidFill>
              <a:srgbClr val="091519"/>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3" name="Text 0"/>
          <p:cNvSpPr/>
          <p:nvPr/>
        </p:nvSpPr>
        <p:spPr>
          <a:xfrm>
            <a:off x="736044" y="3315533"/>
            <a:ext cx="5257919" cy="657225"/>
          </a:xfrm>
          <a:prstGeom prst="rect">
            <a:avLst/>
          </a:prstGeom>
          <a:noFill/>
          <a:ln/>
        </p:spPr>
        <p:txBody>
          <a:bodyPr wrap="none" lIns="0" tIns="0" rIns="0" bIns="0" rtlCol="0" anchor="t"/>
          <a:lstStyle/>
          <a:p>
            <a:pPr marL="0" indent="0" algn="l">
              <a:lnSpc>
                <a:spcPts val="5150"/>
              </a:lnSpc>
              <a:buNone/>
            </a:pPr>
            <a:r>
              <a:rPr lang="en-US" sz="4100" dirty="0">
                <a:solidFill>
                  <a:srgbClr val="F5F0F0"/>
                </a:solidFill>
                <a:latin typeface="Merriweather" pitchFamily="34" charset="0"/>
                <a:ea typeface="Merriweather" pitchFamily="34" charset="-122"/>
                <a:cs typeface="Merriweather" pitchFamily="34" charset="-120"/>
              </a:rPr>
              <a:t>Project Objectives</a:t>
            </a:r>
            <a:endParaRPr lang="en-US" sz="4100" dirty="0"/>
          </a:p>
        </p:txBody>
      </p:sp>
      <p:sp>
        <p:nvSpPr>
          <p:cNvPr id="5" name="Text 1"/>
          <p:cNvSpPr/>
          <p:nvPr/>
        </p:nvSpPr>
        <p:spPr>
          <a:xfrm>
            <a:off x="501805" y="4792075"/>
            <a:ext cx="13682545" cy="2628900"/>
          </a:xfrm>
          <a:prstGeom prst="rect">
            <a:avLst/>
          </a:prstGeom>
          <a:noFill/>
          <a:ln/>
        </p:spPr>
        <p:txBody>
          <a:bodyPr wrap="square" lIns="0" tIns="0" rIns="0" bIns="0" rtlCol="0" anchor="t"/>
          <a:lstStyle/>
          <a:p>
            <a:pPr marL="0" indent="0" algn="l">
              <a:lnSpc>
                <a:spcPts val="2550"/>
              </a:lnSpc>
              <a:buNone/>
            </a:pPr>
            <a:r>
              <a:rPr lang="en-US" sz="2400" dirty="0">
                <a:solidFill>
                  <a:srgbClr val="E2E6E9"/>
                </a:solidFill>
                <a:latin typeface="Merriweather" pitchFamily="34" charset="0"/>
                <a:ea typeface="Merriweather" pitchFamily="34" charset="-122"/>
                <a:cs typeface="Merriweather" pitchFamily="34" charset="-120"/>
              </a:rPr>
              <a:t>Objective 1: Developing real-time attendance using OpenCV</a:t>
            </a:r>
          </a:p>
          <a:p>
            <a:pPr>
              <a:lnSpc>
                <a:spcPts val="2550"/>
              </a:lnSpc>
            </a:pPr>
            <a:r>
              <a:rPr lang="en-US" sz="1600" dirty="0">
                <a:solidFill>
                  <a:schemeClr val="bg1"/>
                </a:solidFill>
                <a:latin typeface="Merriweather" panose="00000500000000000000" pitchFamily="2" charset="0"/>
              </a:rPr>
              <a:t>Implement a live camera feed to detect and recognize faces for real-time attendance marking</a:t>
            </a:r>
          </a:p>
          <a:p>
            <a:pPr marL="0" indent="0" algn="l">
              <a:lnSpc>
                <a:spcPts val="2550"/>
              </a:lnSpc>
              <a:buNone/>
            </a:pPr>
            <a:endParaRPr lang="en-US" sz="2050" dirty="0"/>
          </a:p>
          <a:p>
            <a:pPr marL="0" indent="0" algn="l">
              <a:lnSpc>
                <a:spcPts val="2550"/>
              </a:lnSpc>
              <a:buNone/>
            </a:pPr>
            <a:endParaRPr lang="en-US" sz="2050" dirty="0"/>
          </a:p>
          <a:p>
            <a:pPr>
              <a:lnSpc>
                <a:spcPts val="2550"/>
              </a:lnSpc>
            </a:pPr>
            <a:r>
              <a:rPr lang="en-US" sz="2400" dirty="0">
                <a:solidFill>
                  <a:schemeClr val="bg1"/>
                </a:solidFill>
              </a:rPr>
              <a:t>Objective 2: </a:t>
            </a:r>
            <a:r>
              <a:rPr lang="en-US" sz="2400" dirty="0">
                <a:solidFill>
                  <a:srgbClr val="E2E6E9"/>
                </a:solidFill>
                <a:latin typeface="Merriweather" pitchFamily="34" charset="0"/>
                <a:ea typeface="Merriweather" pitchFamily="34" charset="-122"/>
                <a:cs typeface="Merriweather" pitchFamily="34" charset="-120"/>
              </a:rPr>
              <a:t>Develop Attendance Tracker</a:t>
            </a:r>
            <a:endParaRPr lang="en-US" sz="2400" dirty="0"/>
          </a:p>
          <a:p>
            <a:pPr>
              <a:lnSpc>
                <a:spcPts val="2550"/>
              </a:lnSpc>
            </a:pPr>
            <a:r>
              <a:rPr lang="en-US" sz="1600" dirty="0">
                <a:solidFill>
                  <a:schemeClr val="bg1"/>
                </a:solidFill>
                <a:latin typeface="Merriweather" panose="00000500000000000000" pitchFamily="2" charset="0"/>
              </a:rPr>
              <a:t>Create a reliable system to log and store attendance data with timestamps in a structured format</a:t>
            </a:r>
          </a:p>
          <a:p>
            <a:pPr marL="0" indent="0" algn="l">
              <a:lnSpc>
                <a:spcPts val="2550"/>
              </a:lnSpc>
              <a:buNone/>
            </a:pPr>
            <a:endParaRPr lang="en-US" sz="2050" dirty="0">
              <a:solidFill>
                <a:schemeClr val="bg1"/>
              </a:solidFill>
            </a:endParaRPr>
          </a:p>
        </p:txBody>
      </p:sp>
      <p:sp>
        <p:nvSpPr>
          <p:cNvPr id="16" name="Rectangle 15">
            <a:extLst>
              <a:ext uri="{FF2B5EF4-FFF2-40B4-BE49-F238E27FC236}">
                <a16:creationId xmlns:a16="http://schemas.microsoft.com/office/drawing/2014/main" id="{54F12AA0-6971-49E1-63D7-738723AAB40F}"/>
              </a:ext>
            </a:extLst>
          </p:cNvPr>
          <p:cNvSpPr/>
          <p:nvPr/>
        </p:nvSpPr>
        <p:spPr>
          <a:xfrm>
            <a:off x="12812751" y="7660888"/>
            <a:ext cx="1739590" cy="479502"/>
          </a:xfrm>
          <a:prstGeom prst="rect">
            <a:avLst/>
          </a:prstGeom>
          <a:solidFill>
            <a:srgbClr val="091519"/>
          </a:solidFill>
          <a:ln>
            <a:solidFill>
              <a:srgbClr val="091519"/>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pic>
        <p:nvPicPr>
          <p:cNvPr id="4" name="Image 0" descr="preencoded.png">
            <a:extLst>
              <a:ext uri="{FF2B5EF4-FFF2-40B4-BE49-F238E27FC236}">
                <a16:creationId xmlns:a16="http://schemas.microsoft.com/office/drawing/2014/main" id="{030D9C96-B38F-5EA8-1862-7C6585E0FC43}"/>
              </a:ext>
            </a:extLst>
          </p:cNvPr>
          <p:cNvPicPr>
            <a:picLocks noChangeAspect="1"/>
          </p:cNvPicPr>
          <p:nvPr/>
        </p:nvPicPr>
        <p:blipFill>
          <a:blip r:embed="rId3"/>
          <a:stretch>
            <a:fillRect/>
          </a:stretch>
        </p:blipFill>
        <p:spPr>
          <a:xfrm>
            <a:off x="0" y="0"/>
            <a:ext cx="14630400" cy="2708434"/>
          </a:xfrm>
          <a:prstGeom prst="rect">
            <a:avLst/>
          </a:prstGeom>
        </p:spPr>
      </p:pic>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3" name="Text 0"/>
          <p:cNvSpPr/>
          <p:nvPr/>
        </p:nvSpPr>
        <p:spPr>
          <a:xfrm>
            <a:off x="6161127" y="530185"/>
            <a:ext cx="7794546" cy="1204913"/>
          </a:xfrm>
          <a:prstGeom prst="rect">
            <a:avLst/>
          </a:prstGeom>
          <a:noFill/>
          <a:ln/>
        </p:spPr>
        <p:txBody>
          <a:bodyPr wrap="square" lIns="0" tIns="0" rIns="0" bIns="0" rtlCol="0" anchor="t"/>
          <a:lstStyle/>
          <a:p>
            <a:pPr marL="0" indent="0" algn="l">
              <a:lnSpc>
                <a:spcPts val="4700"/>
              </a:lnSpc>
              <a:buNone/>
            </a:pPr>
            <a:r>
              <a:rPr lang="en-US" sz="3750" dirty="0">
                <a:solidFill>
                  <a:srgbClr val="F5F0F0"/>
                </a:solidFill>
                <a:latin typeface="Merriweather" pitchFamily="34" charset="0"/>
                <a:ea typeface="Merriweather" pitchFamily="34" charset="-122"/>
                <a:cs typeface="Merriweather" pitchFamily="34" charset="-120"/>
              </a:rPr>
              <a:t>Methodology: System Architecture and Workflow</a:t>
            </a:r>
            <a:endParaRPr lang="en-US" sz="3750" dirty="0"/>
          </a:p>
        </p:txBody>
      </p:sp>
      <p:pic>
        <p:nvPicPr>
          <p:cNvPr id="4" name="Image 1" descr="preencoded.png"/>
          <p:cNvPicPr>
            <a:picLocks noChangeAspect="1"/>
          </p:cNvPicPr>
          <p:nvPr/>
        </p:nvPicPr>
        <p:blipFill>
          <a:blip r:embed="rId3"/>
          <a:stretch>
            <a:fillRect/>
          </a:stretch>
        </p:blipFill>
        <p:spPr>
          <a:xfrm>
            <a:off x="6161127" y="2024301"/>
            <a:ext cx="963930" cy="1419106"/>
          </a:xfrm>
          <a:prstGeom prst="rect">
            <a:avLst/>
          </a:prstGeom>
        </p:spPr>
      </p:pic>
      <p:sp>
        <p:nvSpPr>
          <p:cNvPr id="5" name="Text 1"/>
          <p:cNvSpPr/>
          <p:nvPr/>
        </p:nvSpPr>
        <p:spPr>
          <a:xfrm>
            <a:off x="7414260" y="2217063"/>
            <a:ext cx="2693194" cy="301228"/>
          </a:xfrm>
          <a:prstGeom prst="rect">
            <a:avLst/>
          </a:prstGeom>
          <a:noFill/>
          <a:ln/>
        </p:spPr>
        <p:txBody>
          <a:bodyPr wrap="none" lIns="0" tIns="0" rIns="0" bIns="0" rtlCol="0" anchor="t"/>
          <a:lstStyle/>
          <a:p>
            <a:pPr marL="0" indent="0" algn="l">
              <a:lnSpc>
                <a:spcPts val="2350"/>
              </a:lnSpc>
              <a:buNone/>
            </a:pPr>
            <a:r>
              <a:rPr lang="en-US" sz="1850" dirty="0">
                <a:solidFill>
                  <a:srgbClr val="E2E6E9"/>
                </a:solidFill>
                <a:latin typeface="Merriweather" pitchFamily="34" charset="0"/>
                <a:ea typeface="Merriweather" pitchFamily="34" charset="-122"/>
                <a:cs typeface="Merriweather" pitchFamily="34" charset="-120"/>
              </a:rPr>
              <a:t>Image Dataset Creation</a:t>
            </a:r>
            <a:endParaRPr lang="en-US" sz="1850" dirty="0"/>
          </a:p>
        </p:txBody>
      </p:sp>
      <p:sp>
        <p:nvSpPr>
          <p:cNvPr id="6" name="Text 2"/>
          <p:cNvSpPr/>
          <p:nvPr/>
        </p:nvSpPr>
        <p:spPr>
          <a:xfrm>
            <a:off x="7414260" y="2633901"/>
            <a:ext cx="6541413" cy="616744"/>
          </a:xfrm>
          <a:prstGeom prst="rect">
            <a:avLst/>
          </a:prstGeom>
          <a:noFill/>
          <a:ln/>
        </p:spPr>
        <p:txBody>
          <a:bodyPr wrap="square" lIns="0" tIns="0" rIns="0" bIns="0" rtlCol="0" anchor="t"/>
          <a:lstStyle/>
          <a:p>
            <a:pPr marL="0" indent="0" algn="l">
              <a:lnSpc>
                <a:spcPts val="2400"/>
              </a:lnSpc>
              <a:buNone/>
            </a:pPr>
            <a:r>
              <a:rPr lang="en-US" sz="1500" dirty="0">
                <a:solidFill>
                  <a:srgbClr val="E2E6E9"/>
                </a:solidFill>
                <a:latin typeface="Merriweather" pitchFamily="34" charset="0"/>
                <a:ea typeface="Merriweather" pitchFamily="34" charset="-122"/>
                <a:cs typeface="Merriweather" pitchFamily="34" charset="-120"/>
              </a:rPr>
              <a:t>Collect and organize user face images into folders for initial training and encoding.</a:t>
            </a:r>
            <a:endParaRPr lang="en-US" sz="1500" dirty="0"/>
          </a:p>
        </p:txBody>
      </p:sp>
      <p:pic>
        <p:nvPicPr>
          <p:cNvPr id="7" name="Image 2" descr="preencoded.png"/>
          <p:cNvPicPr>
            <a:picLocks noChangeAspect="1"/>
          </p:cNvPicPr>
          <p:nvPr/>
        </p:nvPicPr>
        <p:blipFill>
          <a:blip r:embed="rId4"/>
          <a:stretch>
            <a:fillRect/>
          </a:stretch>
        </p:blipFill>
        <p:spPr>
          <a:xfrm>
            <a:off x="6161127" y="3443407"/>
            <a:ext cx="963930" cy="1419106"/>
          </a:xfrm>
          <a:prstGeom prst="rect">
            <a:avLst/>
          </a:prstGeom>
        </p:spPr>
      </p:pic>
      <p:sp>
        <p:nvSpPr>
          <p:cNvPr id="8" name="Text 3"/>
          <p:cNvSpPr/>
          <p:nvPr/>
        </p:nvSpPr>
        <p:spPr>
          <a:xfrm>
            <a:off x="7414260" y="3636169"/>
            <a:ext cx="2409944" cy="301228"/>
          </a:xfrm>
          <a:prstGeom prst="rect">
            <a:avLst/>
          </a:prstGeom>
          <a:noFill/>
          <a:ln/>
        </p:spPr>
        <p:txBody>
          <a:bodyPr wrap="none" lIns="0" tIns="0" rIns="0" bIns="0" rtlCol="0" anchor="t"/>
          <a:lstStyle/>
          <a:p>
            <a:pPr marL="0" indent="0" algn="l">
              <a:lnSpc>
                <a:spcPts val="2350"/>
              </a:lnSpc>
              <a:buNone/>
            </a:pPr>
            <a:r>
              <a:rPr lang="en-US" sz="1850" dirty="0">
                <a:solidFill>
                  <a:srgbClr val="E2E6E9"/>
                </a:solidFill>
                <a:latin typeface="Merriweather" pitchFamily="34" charset="0"/>
                <a:ea typeface="Merriweather" pitchFamily="34" charset="-122"/>
                <a:cs typeface="Merriweather" pitchFamily="34" charset="-120"/>
              </a:rPr>
              <a:t>Face Encoding</a:t>
            </a:r>
            <a:endParaRPr lang="en-US" sz="1850" dirty="0"/>
          </a:p>
        </p:txBody>
      </p:sp>
      <p:sp>
        <p:nvSpPr>
          <p:cNvPr id="9" name="Text 4"/>
          <p:cNvSpPr/>
          <p:nvPr/>
        </p:nvSpPr>
        <p:spPr>
          <a:xfrm>
            <a:off x="7414260" y="4053007"/>
            <a:ext cx="6541413" cy="616744"/>
          </a:xfrm>
          <a:prstGeom prst="rect">
            <a:avLst/>
          </a:prstGeom>
          <a:noFill/>
          <a:ln/>
        </p:spPr>
        <p:txBody>
          <a:bodyPr wrap="square" lIns="0" tIns="0" rIns="0" bIns="0" rtlCol="0" anchor="t"/>
          <a:lstStyle/>
          <a:p>
            <a:pPr marL="0" indent="0" algn="l">
              <a:lnSpc>
                <a:spcPts val="2400"/>
              </a:lnSpc>
              <a:buNone/>
            </a:pPr>
            <a:r>
              <a:rPr lang="en-US" sz="1500" dirty="0">
                <a:solidFill>
                  <a:srgbClr val="E2E6E9"/>
                </a:solidFill>
                <a:latin typeface="Merriweather" pitchFamily="34" charset="0"/>
                <a:ea typeface="Merriweather" pitchFamily="34" charset="-122"/>
                <a:cs typeface="Merriweather" pitchFamily="34" charset="-120"/>
              </a:rPr>
              <a:t>Transform images into numerical vectors using face_recognition for efficient comparison.</a:t>
            </a:r>
            <a:endParaRPr lang="en-US" sz="1500" dirty="0"/>
          </a:p>
        </p:txBody>
      </p:sp>
      <p:pic>
        <p:nvPicPr>
          <p:cNvPr id="10" name="Image 3" descr="preencoded.png"/>
          <p:cNvPicPr>
            <a:picLocks noChangeAspect="1"/>
          </p:cNvPicPr>
          <p:nvPr/>
        </p:nvPicPr>
        <p:blipFill>
          <a:blip r:embed="rId5"/>
          <a:stretch>
            <a:fillRect/>
          </a:stretch>
        </p:blipFill>
        <p:spPr>
          <a:xfrm>
            <a:off x="6161127" y="4862512"/>
            <a:ext cx="963930" cy="1419106"/>
          </a:xfrm>
          <a:prstGeom prst="rect">
            <a:avLst/>
          </a:prstGeom>
        </p:spPr>
      </p:pic>
      <p:sp>
        <p:nvSpPr>
          <p:cNvPr id="11" name="Text 5"/>
          <p:cNvSpPr/>
          <p:nvPr/>
        </p:nvSpPr>
        <p:spPr>
          <a:xfrm>
            <a:off x="7414260" y="5055275"/>
            <a:ext cx="3376732" cy="301228"/>
          </a:xfrm>
          <a:prstGeom prst="rect">
            <a:avLst/>
          </a:prstGeom>
          <a:noFill/>
          <a:ln/>
        </p:spPr>
        <p:txBody>
          <a:bodyPr wrap="none" lIns="0" tIns="0" rIns="0" bIns="0" rtlCol="0" anchor="t"/>
          <a:lstStyle/>
          <a:p>
            <a:pPr marL="0" indent="0" algn="l">
              <a:lnSpc>
                <a:spcPts val="2350"/>
              </a:lnSpc>
              <a:buNone/>
            </a:pPr>
            <a:r>
              <a:rPr lang="en-US" sz="1850" dirty="0">
                <a:solidFill>
                  <a:srgbClr val="E2E6E9"/>
                </a:solidFill>
                <a:latin typeface="Merriweather" pitchFamily="34" charset="0"/>
                <a:ea typeface="Merriweather" pitchFamily="34" charset="-122"/>
                <a:cs typeface="Merriweather" pitchFamily="34" charset="-120"/>
              </a:rPr>
              <a:t>Live Detection &amp; Recognition</a:t>
            </a:r>
            <a:endParaRPr lang="en-US" sz="1850" dirty="0"/>
          </a:p>
        </p:txBody>
      </p:sp>
      <p:sp>
        <p:nvSpPr>
          <p:cNvPr id="12" name="Text 6"/>
          <p:cNvSpPr/>
          <p:nvPr/>
        </p:nvSpPr>
        <p:spPr>
          <a:xfrm>
            <a:off x="7414260" y="5472113"/>
            <a:ext cx="6541413" cy="616744"/>
          </a:xfrm>
          <a:prstGeom prst="rect">
            <a:avLst/>
          </a:prstGeom>
          <a:noFill/>
          <a:ln/>
        </p:spPr>
        <p:txBody>
          <a:bodyPr wrap="square" lIns="0" tIns="0" rIns="0" bIns="0" rtlCol="0" anchor="t"/>
          <a:lstStyle/>
          <a:p>
            <a:pPr marL="0" indent="0" algn="l">
              <a:lnSpc>
                <a:spcPts val="2400"/>
              </a:lnSpc>
              <a:buNone/>
            </a:pPr>
            <a:r>
              <a:rPr lang="en-US" sz="1500" dirty="0">
                <a:solidFill>
                  <a:srgbClr val="E2E6E9"/>
                </a:solidFill>
                <a:latin typeface="Merriweather" pitchFamily="34" charset="0"/>
                <a:ea typeface="Merriweather" pitchFamily="34" charset="-122"/>
                <a:cs typeface="Merriweather" pitchFamily="34" charset="-120"/>
              </a:rPr>
              <a:t>Use webcam feed to perform continuous face detection and match against encoded data.</a:t>
            </a:r>
            <a:endParaRPr lang="en-US" sz="1500" dirty="0"/>
          </a:p>
        </p:txBody>
      </p:sp>
      <p:pic>
        <p:nvPicPr>
          <p:cNvPr id="13" name="Image 4" descr="preencoded.png"/>
          <p:cNvPicPr>
            <a:picLocks noChangeAspect="1"/>
          </p:cNvPicPr>
          <p:nvPr/>
        </p:nvPicPr>
        <p:blipFill>
          <a:blip r:embed="rId6"/>
          <a:stretch>
            <a:fillRect/>
          </a:stretch>
        </p:blipFill>
        <p:spPr>
          <a:xfrm>
            <a:off x="6161127" y="6281618"/>
            <a:ext cx="963930" cy="1419106"/>
          </a:xfrm>
          <a:prstGeom prst="rect">
            <a:avLst/>
          </a:prstGeom>
        </p:spPr>
      </p:pic>
      <p:sp>
        <p:nvSpPr>
          <p:cNvPr id="14" name="Text 7"/>
          <p:cNvSpPr/>
          <p:nvPr/>
        </p:nvSpPr>
        <p:spPr>
          <a:xfrm>
            <a:off x="7414260" y="6474381"/>
            <a:ext cx="3077647" cy="301228"/>
          </a:xfrm>
          <a:prstGeom prst="rect">
            <a:avLst/>
          </a:prstGeom>
          <a:noFill/>
          <a:ln/>
        </p:spPr>
        <p:txBody>
          <a:bodyPr wrap="none" lIns="0" tIns="0" rIns="0" bIns="0" rtlCol="0" anchor="t"/>
          <a:lstStyle/>
          <a:p>
            <a:pPr marL="0" indent="0" algn="l">
              <a:lnSpc>
                <a:spcPts val="2350"/>
              </a:lnSpc>
              <a:buNone/>
            </a:pPr>
            <a:r>
              <a:rPr lang="en-US" sz="1850" dirty="0">
                <a:solidFill>
                  <a:srgbClr val="E2E6E9"/>
                </a:solidFill>
                <a:latin typeface="Merriweather" pitchFamily="34" charset="0"/>
                <a:ea typeface="Merriweather" pitchFamily="34" charset="-122"/>
                <a:cs typeface="Merriweather" pitchFamily="34" charset="-120"/>
              </a:rPr>
              <a:t>GUI Integration &amp; Logging</a:t>
            </a:r>
            <a:endParaRPr lang="en-US" sz="1850" dirty="0"/>
          </a:p>
        </p:txBody>
      </p:sp>
      <p:sp>
        <p:nvSpPr>
          <p:cNvPr id="15" name="Text 8"/>
          <p:cNvSpPr/>
          <p:nvPr/>
        </p:nvSpPr>
        <p:spPr>
          <a:xfrm>
            <a:off x="7414260" y="6891218"/>
            <a:ext cx="6541413" cy="616744"/>
          </a:xfrm>
          <a:prstGeom prst="rect">
            <a:avLst/>
          </a:prstGeom>
          <a:noFill/>
          <a:ln/>
        </p:spPr>
        <p:txBody>
          <a:bodyPr wrap="square" lIns="0" tIns="0" rIns="0" bIns="0" rtlCol="0" anchor="t"/>
          <a:lstStyle/>
          <a:p>
            <a:pPr marL="0" indent="0" algn="l">
              <a:lnSpc>
                <a:spcPts val="2400"/>
              </a:lnSpc>
              <a:buNone/>
            </a:pPr>
            <a:r>
              <a:rPr lang="en-US" sz="1500" dirty="0">
                <a:solidFill>
                  <a:srgbClr val="E2E6E9"/>
                </a:solidFill>
                <a:latin typeface="Merriweather" pitchFamily="34" charset="0"/>
                <a:ea typeface="Merriweather" pitchFamily="34" charset="-122"/>
                <a:cs typeface="Merriweather" pitchFamily="34" charset="-120"/>
              </a:rPr>
              <a:t>Deploy a Tkinter-based interface with a “Mark Attendance” button to control and log attendance events.</a:t>
            </a:r>
            <a:endParaRPr lang="en-US" sz="1500" dirty="0"/>
          </a:p>
        </p:txBody>
      </p:sp>
      <p:sp>
        <p:nvSpPr>
          <p:cNvPr id="16" name="Rectangle 15">
            <a:extLst>
              <a:ext uri="{FF2B5EF4-FFF2-40B4-BE49-F238E27FC236}">
                <a16:creationId xmlns:a16="http://schemas.microsoft.com/office/drawing/2014/main" id="{78D16BF6-412D-B716-664E-549CA51C15D3}"/>
              </a:ext>
            </a:extLst>
          </p:cNvPr>
          <p:cNvSpPr/>
          <p:nvPr/>
        </p:nvSpPr>
        <p:spPr>
          <a:xfrm>
            <a:off x="12812751" y="7660888"/>
            <a:ext cx="1739590" cy="479502"/>
          </a:xfrm>
          <a:prstGeom prst="rect">
            <a:avLst/>
          </a:prstGeom>
          <a:solidFill>
            <a:srgbClr val="091519"/>
          </a:solidFill>
          <a:ln>
            <a:solidFill>
              <a:srgbClr val="091519"/>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pic>
        <p:nvPicPr>
          <p:cNvPr id="18" name="Picture 17">
            <a:extLst>
              <a:ext uri="{FF2B5EF4-FFF2-40B4-BE49-F238E27FC236}">
                <a16:creationId xmlns:a16="http://schemas.microsoft.com/office/drawing/2014/main" id="{BC81DB51-BAA5-783D-FD3C-CCE1B3AD1A0B}"/>
              </a:ext>
            </a:extLst>
          </p:cNvPr>
          <p:cNvPicPr>
            <a:picLocks noChangeAspect="1"/>
          </p:cNvPicPr>
          <p:nvPr/>
        </p:nvPicPr>
        <p:blipFill>
          <a:blip r:embed="rId7"/>
          <a:srcRect t="6526"/>
          <a:stretch/>
        </p:blipFill>
        <p:spPr>
          <a:xfrm>
            <a:off x="0" y="0"/>
            <a:ext cx="5966009" cy="8229600"/>
          </a:xfrm>
          <a:prstGeom prst="rect">
            <a:avLst/>
          </a:prstGeom>
        </p:spPr>
      </p:pic>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nvSpPr>
        <p:spPr>
          <a:xfrm>
            <a:off x="863798" y="1549956"/>
            <a:ext cx="12865060" cy="771287"/>
          </a:xfrm>
          <a:prstGeom prst="rect">
            <a:avLst/>
          </a:prstGeom>
          <a:noFill/>
          <a:ln/>
        </p:spPr>
        <p:txBody>
          <a:bodyPr wrap="none" lIns="0" tIns="0" rIns="0" bIns="0" rtlCol="0" anchor="t"/>
          <a:lstStyle/>
          <a:p>
            <a:pPr marL="0" indent="0" algn="l">
              <a:lnSpc>
                <a:spcPts val="6050"/>
              </a:lnSpc>
              <a:buNone/>
            </a:pPr>
            <a:r>
              <a:rPr lang="en-US" sz="4850" dirty="0">
                <a:solidFill>
                  <a:srgbClr val="F5F0F0"/>
                </a:solidFill>
                <a:latin typeface="Merriweather" pitchFamily="34" charset="0"/>
                <a:ea typeface="Merriweather" pitchFamily="34" charset="-122"/>
                <a:cs typeface="Merriweather" pitchFamily="34" charset="-120"/>
              </a:rPr>
              <a:t>Implementation Technologies and Features</a:t>
            </a:r>
            <a:endParaRPr lang="en-US" sz="4850" dirty="0"/>
          </a:p>
        </p:txBody>
      </p:sp>
      <p:sp>
        <p:nvSpPr>
          <p:cNvPr id="3" name="Text 1"/>
          <p:cNvSpPr/>
          <p:nvPr/>
        </p:nvSpPr>
        <p:spPr>
          <a:xfrm>
            <a:off x="863798" y="2938224"/>
            <a:ext cx="3085386" cy="385524"/>
          </a:xfrm>
          <a:prstGeom prst="rect">
            <a:avLst/>
          </a:prstGeom>
          <a:noFill/>
          <a:ln/>
        </p:spPr>
        <p:txBody>
          <a:bodyPr wrap="none" lIns="0" tIns="0" rIns="0" bIns="0" rtlCol="0" anchor="t"/>
          <a:lstStyle/>
          <a:p>
            <a:pPr marL="0" indent="0" algn="l">
              <a:lnSpc>
                <a:spcPts val="3000"/>
              </a:lnSpc>
              <a:buNone/>
            </a:pPr>
            <a:r>
              <a:rPr lang="en-US" sz="2400" dirty="0">
                <a:solidFill>
                  <a:srgbClr val="F5F0F0"/>
                </a:solidFill>
                <a:latin typeface="Merriweather" pitchFamily="34" charset="0"/>
                <a:ea typeface="Merriweather" pitchFamily="34" charset="-122"/>
                <a:cs typeface="Merriweather" pitchFamily="34" charset="-120"/>
              </a:rPr>
              <a:t>Programming Stack</a:t>
            </a:r>
            <a:endParaRPr lang="en-US" sz="2400" dirty="0"/>
          </a:p>
        </p:txBody>
      </p:sp>
      <p:sp>
        <p:nvSpPr>
          <p:cNvPr id="4" name="Text 2"/>
          <p:cNvSpPr/>
          <p:nvPr/>
        </p:nvSpPr>
        <p:spPr>
          <a:xfrm>
            <a:off x="863798" y="3570565"/>
            <a:ext cx="6150293" cy="394811"/>
          </a:xfrm>
          <a:prstGeom prst="rect">
            <a:avLst/>
          </a:prstGeom>
          <a:noFill/>
          <a:ln/>
        </p:spPr>
        <p:txBody>
          <a:bodyPr wrap="none" lIns="0" tIns="0" rIns="0" bIns="0" rtlCol="0" anchor="t"/>
          <a:lstStyle/>
          <a:p>
            <a:pPr marL="342900" indent="-342900" algn="l">
              <a:lnSpc>
                <a:spcPts val="3100"/>
              </a:lnSpc>
              <a:buSzPct val="100000"/>
              <a:buChar char="•"/>
            </a:pPr>
            <a:r>
              <a:rPr lang="en-US" sz="1900" dirty="0">
                <a:solidFill>
                  <a:srgbClr val="E2E6E9"/>
                </a:solidFill>
                <a:latin typeface="Merriweather" pitchFamily="34" charset="0"/>
                <a:ea typeface="Merriweather" pitchFamily="34" charset="-122"/>
                <a:cs typeface="Merriweather" pitchFamily="34" charset="-120"/>
              </a:rPr>
              <a:t>Python for core logic</a:t>
            </a:r>
            <a:endParaRPr lang="en-US" sz="1900" dirty="0"/>
          </a:p>
        </p:txBody>
      </p:sp>
      <p:sp>
        <p:nvSpPr>
          <p:cNvPr id="5" name="Text 3"/>
          <p:cNvSpPr/>
          <p:nvPr/>
        </p:nvSpPr>
        <p:spPr>
          <a:xfrm>
            <a:off x="856178" y="4560050"/>
            <a:ext cx="6150293" cy="394811"/>
          </a:xfrm>
          <a:prstGeom prst="rect">
            <a:avLst/>
          </a:prstGeom>
          <a:noFill/>
          <a:ln/>
        </p:spPr>
        <p:txBody>
          <a:bodyPr wrap="none" lIns="0" tIns="0" rIns="0" bIns="0" rtlCol="0" anchor="t"/>
          <a:lstStyle/>
          <a:p>
            <a:pPr marL="342900" indent="-342900" algn="l">
              <a:lnSpc>
                <a:spcPts val="3100"/>
              </a:lnSpc>
              <a:buSzPct val="100000"/>
              <a:buChar char="•"/>
            </a:pPr>
            <a:r>
              <a:rPr lang="en-US" sz="1900" dirty="0">
                <a:solidFill>
                  <a:srgbClr val="E2E6E9"/>
                </a:solidFill>
                <a:latin typeface="Merriweather" pitchFamily="34" charset="0"/>
                <a:ea typeface="Merriweather" pitchFamily="34" charset="-122"/>
                <a:cs typeface="Merriweather" pitchFamily="34" charset="-120"/>
              </a:rPr>
              <a:t>OpenCV for video capture and processing</a:t>
            </a:r>
            <a:endParaRPr lang="en-US" sz="1900" dirty="0"/>
          </a:p>
        </p:txBody>
      </p:sp>
      <p:sp>
        <p:nvSpPr>
          <p:cNvPr id="6" name="Text 4"/>
          <p:cNvSpPr/>
          <p:nvPr/>
        </p:nvSpPr>
        <p:spPr>
          <a:xfrm>
            <a:off x="863797" y="4938714"/>
            <a:ext cx="6150293" cy="394811"/>
          </a:xfrm>
          <a:prstGeom prst="rect">
            <a:avLst/>
          </a:prstGeom>
          <a:noFill/>
          <a:ln/>
        </p:spPr>
        <p:txBody>
          <a:bodyPr wrap="none" lIns="0" tIns="0" rIns="0" bIns="0" rtlCol="0" anchor="t"/>
          <a:lstStyle/>
          <a:p>
            <a:pPr marL="342900" indent="-342900" algn="l">
              <a:lnSpc>
                <a:spcPts val="3100"/>
              </a:lnSpc>
              <a:buSzPct val="100000"/>
              <a:buChar char="•"/>
            </a:pPr>
            <a:r>
              <a:rPr lang="en-US" sz="1900" dirty="0">
                <a:solidFill>
                  <a:srgbClr val="E2E6E9"/>
                </a:solidFill>
                <a:latin typeface="Merriweather" pitchFamily="34" charset="0"/>
                <a:ea typeface="Merriweather" pitchFamily="34" charset="-122"/>
                <a:cs typeface="Merriweather" pitchFamily="34" charset="-120"/>
              </a:rPr>
              <a:t>face_recognition for encoding and recognition</a:t>
            </a:r>
            <a:endParaRPr lang="en-US" sz="1900" dirty="0"/>
          </a:p>
        </p:txBody>
      </p:sp>
      <p:sp>
        <p:nvSpPr>
          <p:cNvPr id="7" name="Text 5"/>
          <p:cNvSpPr/>
          <p:nvPr/>
        </p:nvSpPr>
        <p:spPr>
          <a:xfrm>
            <a:off x="874037" y="4004601"/>
            <a:ext cx="6150293" cy="394811"/>
          </a:xfrm>
          <a:prstGeom prst="rect">
            <a:avLst/>
          </a:prstGeom>
          <a:noFill/>
          <a:ln/>
        </p:spPr>
        <p:txBody>
          <a:bodyPr wrap="none" lIns="0" tIns="0" rIns="0" bIns="0" rtlCol="0" anchor="t"/>
          <a:lstStyle/>
          <a:p>
            <a:pPr marL="342900" indent="-342900" algn="l">
              <a:lnSpc>
                <a:spcPts val="3100"/>
              </a:lnSpc>
              <a:buSzPct val="100000"/>
              <a:buChar char="•"/>
            </a:pPr>
            <a:r>
              <a:rPr lang="en-US" sz="1900" dirty="0">
                <a:solidFill>
                  <a:srgbClr val="E2E6E9"/>
                </a:solidFill>
                <a:latin typeface="Merriweather" pitchFamily="34" charset="0"/>
                <a:ea typeface="Merriweather" pitchFamily="34" charset="-122"/>
                <a:cs typeface="Merriweather" pitchFamily="34" charset="-120"/>
              </a:rPr>
              <a:t>Tkinter for lightweight GUI</a:t>
            </a:r>
            <a:endParaRPr lang="en-US" sz="1900" dirty="0"/>
          </a:p>
        </p:txBody>
      </p:sp>
      <p:sp>
        <p:nvSpPr>
          <p:cNvPr id="8" name="Text 6"/>
          <p:cNvSpPr/>
          <p:nvPr/>
        </p:nvSpPr>
        <p:spPr>
          <a:xfrm>
            <a:off x="863798" y="5331066"/>
            <a:ext cx="6150293" cy="394811"/>
          </a:xfrm>
          <a:prstGeom prst="rect">
            <a:avLst/>
          </a:prstGeom>
          <a:noFill/>
          <a:ln/>
        </p:spPr>
        <p:txBody>
          <a:bodyPr wrap="none" lIns="0" tIns="0" rIns="0" bIns="0" rtlCol="0" anchor="t"/>
          <a:lstStyle/>
          <a:p>
            <a:pPr marL="342900" indent="-342900" algn="l">
              <a:lnSpc>
                <a:spcPts val="3100"/>
              </a:lnSpc>
              <a:buSzPct val="100000"/>
              <a:buChar char="•"/>
            </a:pPr>
            <a:r>
              <a:rPr lang="en-US" sz="1900" dirty="0">
                <a:solidFill>
                  <a:srgbClr val="E2E6E9"/>
                </a:solidFill>
                <a:latin typeface="Merriweather" pitchFamily="34" charset="0"/>
                <a:ea typeface="Merriweather" pitchFamily="34" charset="-122"/>
                <a:cs typeface="Merriweather" pitchFamily="34" charset="-120"/>
              </a:rPr>
              <a:t>Pillow for image handling in GUI</a:t>
            </a:r>
            <a:endParaRPr lang="en-US" sz="1900" dirty="0"/>
          </a:p>
        </p:txBody>
      </p:sp>
      <p:sp>
        <p:nvSpPr>
          <p:cNvPr id="9" name="Text 7"/>
          <p:cNvSpPr/>
          <p:nvPr/>
        </p:nvSpPr>
        <p:spPr>
          <a:xfrm>
            <a:off x="7623929" y="2938224"/>
            <a:ext cx="3566517" cy="385524"/>
          </a:xfrm>
          <a:prstGeom prst="rect">
            <a:avLst/>
          </a:prstGeom>
          <a:noFill/>
          <a:ln/>
        </p:spPr>
        <p:txBody>
          <a:bodyPr wrap="none" lIns="0" tIns="0" rIns="0" bIns="0" rtlCol="0" anchor="t"/>
          <a:lstStyle/>
          <a:p>
            <a:pPr marL="0" indent="0" algn="l">
              <a:lnSpc>
                <a:spcPts val="3000"/>
              </a:lnSpc>
              <a:buNone/>
            </a:pPr>
            <a:r>
              <a:rPr lang="en-US" sz="2400" dirty="0">
                <a:solidFill>
                  <a:srgbClr val="F5F0F0"/>
                </a:solidFill>
                <a:latin typeface="Merriweather" pitchFamily="34" charset="0"/>
                <a:ea typeface="Merriweather" pitchFamily="34" charset="-122"/>
                <a:cs typeface="Merriweather" pitchFamily="34" charset="-120"/>
              </a:rPr>
              <a:t>Key Functional Features</a:t>
            </a:r>
            <a:endParaRPr lang="en-US" sz="2400" dirty="0"/>
          </a:p>
        </p:txBody>
      </p:sp>
      <p:sp>
        <p:nvSpPr>
          <p:cNvPr id="10" name="Text 8"/>
          <p:cNvSpPr/>
          <p:nvPr/>
        </p:nvSpPr>
        <p:spPr>
          <a:xfrm>
            <a:off x="7623929" y="3570565"/>
            <a:ext cx="6150293" cy="789622"/>
          </a:xfrm>
          <a:prstGeom prst="rect">
            <a:avLst/>
          </a:prstGeom>
          <a:noFill/>
          <a:ln/>
        </p:spPr>
        <p:txBody>
          <a:bodyPr wrap="square" lIns="0" tIns="0" rIns="0" bIns="0" rtlCol="0" anchor="t"/>
          <a:lstStyle/>
          <a:p>
            <a:pPr marL="342900" indent="-342900" algn="l">
              <a:lnSpc>
                <a:spcPts val="3100"/>
              </a:lnSpc>
              <a:buSzPct val="100000"/>
              <a:buChar char="•"/>
            </a:pPr>
            <a:r>
              <a:rPr lang="en-US" sz="1900" dirty="0">
                <a:solidFill>
                  <a:srgbClr val="E2E6E9"/>
                </a:solidFill>
                <a:latin typeface="Merriweather" pitchFamily="34" charset="0"/>
                <a:ea typeface="Merriweather" pitchFamily="34" charset="-122"/>
                <a:cs typeface="Merriweather" pitchFamily="34" charset="-120"/>
              </a:rPr>
              <a:t>Real-time bounding box visualization with identification</a:t>
            </a:r>
            <a:endParaRPr lang="en-US" sz="1900" dirty="0"/>
          </a:p>
        </p:txBody>
      </p:sp>
      <p:sp>
        <p:nvSpPr>
          <p:cNvPr id="11" name="Text 9"/>
          <p:cNvSpPr/>
          <p:nvPr/>
        </p:nvSpPr>
        <p:spPr>
          <a:xfrm>
            <a:off x="7623929" y="4446508"/>
            <a:ext cx="6150293" cy="789622"/>
          </a:xfrm>
          <a:prstGeom prst="rect">
            <a:avLst/>
          </a:prstGeom>
          <a:noFill/>
          <a:ln/>
        </p:spPr>
        <p:txBody>
          <a:bodyPr wrap="square" lIns="0" tIns="0" rIns="0" bIns="0" rtlCol="0" anchor="t"/>
          <a:lstStyle/>
          <a:p>
            <a:pPr marL="342900" indent="-342900" algn="l">
              <a:lnSpc>
                <a:spcPts val="3100"/>
              </a:lnSpc>
              <a:buSzPct val="100000"/>
              <a:buChar char="•"/>
            </a:pPr>
            <a:r>
              <a:rPr lang="en-US" sz="1900" dirty="0">
                <a:solidFill>
                  <a:srgbClr val="E2E6E9"/>
                </a:solidFill>
                <a:latin typeface="Merriweather" pitchFamily="34" charset="0"/>
                <a:ea typeface="Merriweather" pitchFamily="34" charset="-122"/>
                <a:cs typeface="Merriweather" pitchFamily="34" charset="-120"/>
              </a:rPr>
              <a:t>User-initiated attendance marking to prevent false logging</a:t>
            </a:r>
            <a:endParaRPr lang="en-US" sz="1900" dirty="0"/>
          </a:p>
        </p:txBody>
      </p:sp>
      <p:sp>
        <p:nvSpPr>
          <p:cNvPr id="12" name="Text 10"/>
          <p:cNvSpPr/>
          <p:nvPr/>
        </p:nvSpPr>
        <p:spPr>
          <a:xfrm>
            <a:off x="7623929" y="5322451"/>
            <a:ext cx="6150293" cy="394811"/>
          </a:xfrm>
          <a:prstGeom prst="rect">
            <a:avLst/>
          </a:prstGeom>
          <a:noFill/>
          <a:ln/>
        </p:spPr>
        <p:txBody>
          <a:bodyPr wrap="none" lIns="0" tIns="0" rIns="0" bIns="0" rtlCol="0" anchor="t"/>
          <a:lstStyle/>
          <a:p>
            <a:pPr marL="342900" indent="-342900" algn="l">
              <a:lnSpc>
                <a:spcPts val="3100"/>
              </a:lnSpc>
              <a:buSzPct val="100000"/>
              <a:buChar char="•"/>
            </a:pPr>
            <a:r>
              <a:rPr lang="en-US" sz="1900" dirty="0">
                <a:solidFill>
                  <a:srgbClr val="E2E6E9"/>
                </a:solidFill>
                <a:latin typeface="Merriweather" pitchFamily="34" charset="0"/>
                <a:ea typeface="Merriweather" pitchFamily="34" charset="-122"/>
                <a:cs typeface="Merriweather" pitchFamily="34" charset="-120"/>
              </a:rPr>
              <a:t>CSV-based attendance logs with timestamps</a:t>
            </a:r>
            <a:endParaRPr lang="en-US" sz="1900" dirty="0"/>
          </a:p>
        </p:txBody>
      </p:sp>
      <p:sp>
        <p:nvSpPr>
          <p:cNvPr id="14" name="Rectangle 13">
            <a:extLst>
              <a:ext uri="{FF2B5EF4-FFF2-40B4-BE49-F238E27FC236}">
                <a16:creationId xmlns:a16="http://schemas.microsoft.com/office/drawing/2014/main" id="{570ED1A4-DE2C-FBC1-72F6-0288EE55551F}"/>
              </a:ext>
            </a:extLst>
          </p:cNvPr>
          <p:cNvSpPr/>
          <p:nvPr/>
        </p:nvSpPr>
        <p:spPr>
          <a:xfrm>
            <a:off x="12812751" y="7660888"/>
            <a:ext cx="1739590" cy="479502"/>
          </a:xfrm>
          <a:prstGeom prst="rect">
            <a:avLst/>
          </a:prstGeom>
          <a:solidFill>
            <a:srgbClr val="091519"/>
          </a:solidFill>
          <a:ln>
            <a:solidFill>
              <a:srgbClr val="091519"/>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5" name="Text 6">
            <a:extLst>
              <a:ext uri="{FF2B5EF4-FFF2-40B4-BE49-F238E27FC236}">
                <a16:creationId xmlns:a16="http://schemas.microsoft.com/office/drawing/2014/main" id="{9FE48A0F-6698-EE2B-5ACA-B55DEE9F4179}"/>
              </a:ext>
            </a:extLst>
          </p:cNvPr>
          <p:cNvSpPr/>
          <p:nvPr/>
        </p:nvSpPr>
        <p:spPr>
          <a:xfrm>
            <a:off x="856177" y="5703295"/>
            <a:ext cx="6150293" cy="394811"/>
          </a:xfrm>
          <a:prstGeom prst="rect">
            <a:avLst/>
          </a:prstGeom>
          <a:noFill/>
          <a:ln/>
        </p:spPr>
        <p:txBody>
          <a:bodyPr wrap="none" lIns="0" tIns="0" rIns="0" bIns="0" rtlCol="0" anchor="t"/>
          <a:lstStyle/>
          <a:p>
            <a:pPr marL="342900" indent="-342900" algn="l">
              <a:lnSpc>
                <a:spcPts val="3100"/>
              </a:lnSpc>
              <a:buSzPct val="100000"/>
              <a:buChar char="•"/>
            </a:pPr>
            <a:r>
              <a:rPr lang="en-US" sz="1900" dirty="0">
                <a:solidFill>
                  <a:schemeClr val="bg1"/>
                </a:solidFill>
                <a:latin typeface="Merriweather" panose="00000500000000000000" pitchFamily="2" charset="0"/>
              </a:rPr>
              <a:t>NumPy for handling arrays and numerical operations</a:t>
            </a:r>
          </a:p>
        </p:txBody>
      </p:sp>
      <p:sp>
        <p:nvSpPr>
          <p:cNvPr id="16" name="Text 6">
            <a:extLst>
              <a:ext uri="{FF2B5EF4-FFF2-40B4-BE49-F238E27FC236}">
                <a16:creationId xmlns:a16="http://schemas.microsoft.com/office/drawing/2014/main" id="{70B8D303-D9F1-7F53-BCBD-ACC21D075F8E}"/>
              </a:ext>
            </a:extLst>
          </p:cNvPr>
          <p:cNvSpPr/>
          <p:nvPr/>
        </p:nvSpPr>
        <p:spPr>
          <a:xfrm>
            <a:off x="856177" y="6044891"/>
            <a:ext cx="6150293" cy="394811"/>
          </a:xfrm>
          <a:prstGeom prst="rect">
            <a:avLst/>
          </a:prstGeom>
          <a:noFill/>
          <a:ln/>
        </p:spPr>
        <p:txBody>
          <a:bodyPr wrap="none" lIns="0" tIns="0" rIns="0" bIns="0" rtlCol="0" anchor="t"/>
          <a:lstStyle/>
          <a:p>
            <a:pPr marL="342900" indent="-342900" algn="l">
              <a:lnSpc>
                <a:spcPts val="3100"/>
              </a:lnSpc>
              <a:buSzPct val="100000"/>
              <a:buChar char="•"/>
            </a:pPr>
            <a:r>
              <a:rPr lang="en-US" sz="1900" dirty="0" err="1">
                <a:solidFill>
                  <a:srgbClr val="E2E6E9"/>
                </a:solidFill>
                <a:latin typeface="Merriweather" pitchFamily="34" charset="0"/>
                <a:ea typeface="Merriweather" pitchFamily="34" charset="-122"/>
                <a:cs typeface="Merriweather" pitchFamily="34" charset="-120"/>
              </a:rPr>
              <a:t>Dlib</a:t>
            </a:r>
            <a:r>
              <a:rPr lang="en-US" sz="1900" dirty="0">
                <a:solidFill>
                  <a:srgbClr val="E2E6E9"/>
                </a:solidFill>
                <a:latin typeface="Merriweather" pitchFamily="34" charset="0"/>
                <a:ea typeface="Merriweather" pitchFamily="34" charset="-122"/>
                <a:cs typeface="Merriweather" pitchFamily="34" charset="-120"/>
              </a:rPr>
              <a:t> used by </a:t>
            </a:r>
            <a:r>
              <a:rPr lang="en-US" sz="1900" dirty="0" err="1">
                <a:solidFill>
                  <a:srgbClr val="E2E6E9"/>
                </a:solidFill>
                <a:latin typeface="Merriweather" pitchFamily="34" charset="0"/>
                <a:ea typeface="Merriweather" pitchFamily="34" charset="-122"/>
                <a:cs typeface="Merriweather" pitchFamily="34" charset="-120"/>
              </a:rPr>
              <a:t>face_recognition</a:t>
            </a:r>
            <a:r>
              <a:rPr lang="en-US" sz="1900" dirty="0">
                <a:solidFill>
                  <a:srgbClr val="E2E6E9"/>
                </a:solidFill>
                <a:latin typeface="Merriweather" pitchFamily="34" charset="0"/>
                <a:ea typeface="Merriweather" pitchFamily="34" charset="-122"/>
                <a:cs typeface="Merriweather" pitchFamily="34" charset="-120"/>
              </a:rPr>
              <a:t> for facial landmark </a:t>
            </a:r>
            <a:r>
              <a:rPr lang="en-US" sz="1900" dirty="0" err="1">
                <a:solidFill>
                  <a:srgbClr val="E2E6E9"/>
                </a:solidFill>
                <a:latin typeface="Merriweather" pitchFamily="34" charset="0"/>
                <a:ea typeface="Merriweather" pitchFamily="34" charset="-122"/>
                <a:cs typeface="Merriweather" pitchFamily="34" charset="-120"/>
              </a:rPr>
              <a:t>detction</a:t>
            </a:r>
            <a:endParaRPr lang="en-US" sz="19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3" name="Text 0"/>
          <p:cNvSpPr/>
          <p:nvPr/>
        </p:nvSpPr>
        <p:spPr>
          <a:xfrm>
            <a:off x="800100" y="921901"/>
            <a:ext cx="6294596" cy="714494"/>
          </a:xfrm>
          <a:prstGeom prst="rect">
            <a:avLst/>
          </a:prstGeom>
          <a:noFill/>
          <a:ln/>
        </p:spPr>
        <p:txBody>
          <a:bodyPr wrap="none" lIns="0" tIns="0" rIns="0" bIns="0" rtlCol="0" anchor="t"/>
          <a:lstStyle/>
          <a:p>
            <a:pPr marL="0" indent="0" algn="l">
              <a:lnSpc>
                <a:spcPts val="5600"/>
              </a:lnSpc>
              <a:buNone/>
            </a:pPr>
            <a:r>
              <a:rPr lang="en-US" sz="4500" dirty="0">
                <a:solidFill>
                  <a:srgbClr val="F5F0F0"/>
                </a:solidFill>
                <a:latin typeface="Merriweather" pitchFamily="34" charset="0"/>
                <a:ea typeface="Merriweather" pitchFamily="34" charset="-122"/>
                <a:cs typeface="Merriweather" pitchFamily="34" charset="-120"/>
              </a:rPr>
              <a:t>Results and Discussion</a:t>
            </a:r>
            <a:endParaRPr lang="en-US" sz="4500" dirty="0"/>
          </a:p>
        </p:txBody>
      </p:sp>
      <p:sp>
        <p:nvSpPr>
          <p:cNvPr id="4" name="Shape 1"/>
          <p:cNvSpPr/>
          <p:nvPr/>
        </p:nvSpPr>
        <p:spPr>
          <a:xfrm>
            <a:off x="800100" y="1979295"/>
            <a:ext cx="3657600" cy="3321368"/>
          </a:xfrm>
          <a:prstGeom prst="roundRect">
            <a:avLst>
              <a:gd name="adj" fmla="val 2891"/>
            </a:avLst>
          </a:prstGeom>
          <a:solidFill>
            <a:srgbClr val="003180"/>
          </a:solidFill>
          <a:ln w="7620">
            <a:solidFill>
              <a:srgbClr val="194A99"/>
            </a:solidFill>
            <a:prstDash val="solid"/>
          </a:ln>
        </p:spPr>
      </p:sp>
      <p:sp>
        <p:nvSpPr>
          <p:cNvPr id="5" name="Text 2"/>
          <p:cNvSpPr/>
          <p:nvPr/>
        </p:nvSpPr>
        <p:spPr>
          <a:xfrm>
            <a:off x="1036320" y="2215515"/>
            <a:ext cx="2857738" cy="357188"/>
          </a:xfrm>
          <a:prstGeom prst="rect">
            <a:avLst/>
          </a:prstGeom>
          <a:noFill/>
          <a:ln/>
        </p:spPr>
        <p:txBody>
          <a:bodyPr wrap="none" lIns="0" tIns="0" rIns="0" bIns="0" rtlCol="0" anchor="t"/>
          <a:lstStyle/>
          <a:p>
            <a:pPr marL="0" indent="0" algn="l">
              <a:lnSpc>
                <a:spcPts val="2800"/>
              </a:lnSpc>
              <a:buNone/>
            </a:pPr>
            <a:r>
              <a:rPr lang="en-US" sz="2250" dirty="0">
                <a:solidFill>
                  <a:srgbClr val="E2E6E9"/>
                </a:solidFill>
                <a:latin typeface="Merriweather" pitchFamily="34" charset="0"/>
                <a:ea typeface="Merriweather" pitchFamily="34" charset="-122"/>
                <a:cs typeface="Merriweather" pitchFamily="34" charset="-120"/>
              </a:rPr>
              <a:t>System Performance</a:t>
            </a:r>
            <a:endParaRPr lang="en-US" sz="2250" dirty="0"/>
          </a:p>
        </p:txBody>
      </p:sp>
      <p:sp>
        <p:nvSpPr>
          <p:cNvPr id="6" name="Text 3"/>
          <p:cNvSpPr/>
          <p:nvPr/>
        </p:nvSpPr>
        <p:spPr>
          <a:xfrm>
            <a:off x="1036320" y="2709863"/>
            <a:ext cx="3185160" cy="1828800"/>
          </a:xfrm>
          <a:prstGeom prst="rect">
            <a:avLst/>
          </a:prstGeom>
          <a:noFill/>
          <a:ln/>
        </p:spPr>
        <p:txBody>
          <a:bodyPr wrap="square" lIns="0" tIns="0" rIns="0" bIns="0" rtlCol="0" anchor="t"/>
          <a:lstStyle/>
          <a:p>
            <a:pPr marL="0" indent="0" algn="l">
              <a:lnSpc>
                <a:spcPts val="2850"/>
              </a:lnSpc>
              <a:buNone/>
            </a:pPr>
            <a:r>
              <a:rPr lang="en-US" sz="1800" dirty="0">
                <a:solidFill>
                  <a:srgbClr val="E2E6E9"/>
                </a:solidFill>
                <a:latin typeface="Merriweather" pitchFamily="34" charset="0"/>
                <a:ea typeface="Merriweather" pitchFamily="34" charset="-122"/>
                <a:cs typeface="Merriweather" pitchFamily="34" charset="-120"/>
              </a:rPr>
              <a:t>Accurately detects and labels multiple faces in real-time, streamlines attendance marking with minimal manual intervention.</a:t>
            </a:r>
            <a:endParaRPr lang="en-US" sz="1800" dirty="0"/>
          </a:p>
        </p:txBody>
      </p:sp>
      <p:sp>
        <p:nvSpPr>
          <p:cNvPr id="7" name="Shape 4"/>
          <p:cNvSpPr/>
          <p:nvPr/>
        </p:nvSpPr>
        <p:spPr>
          <a:xfrm>
            <a:off x="4686300" y="1979295"/>
            <a:ext cx="3657600" cy="3321368"/>
          </a:xfrm>
          <a:prstGeom prst="roundRect">
            <a:avLst>
              <a:gd name="adj" fmla="val 2891"/>
            </a:avLst>
          </a:prstGeom>
          <a:solidFill>
            <a:srgbClr val="003180"/>
          </a:solidFill>
          <a:ln w="7620">
            <a:solidFill>
              <a:srgbClr val="194A99"/>
            </a:solidFill>
            <a:prstDash val="solid"/>
          </a:ln>
        </p:spPr>
      </p:sp>
      <p:sp>
        <p:nvSpPr>
          <p:cNvPr id="8" name="Text 5"/>
          <p:cNvSpPr/>
          <p:nvPr/>
        </p:nvSpPr>
        <p:spPr>
          <a:xfrm>
            <a:off x="4922520" y="2215515"/>
            <a:ext cx="2857738" cy="357188"/>
          </a:xfrm>
          <a:prstGeom prst="rect">
            <a:avLst/>
          </a:prstGeom>
          <a:noFill/>
          <a:ln/>
        </p:spPr>
        <p:txBody>
          <a:bodyPr wrap="none" lIns="0" tIns="0" rIns="0" bIns="0" rtlCol="0" anchor="t"/>
          <a:lstStyle/>
          <a:p>
            <a:pPr marL="0" indent="0" algn="l">
              <a:lnSpc>
                <a:spcPts val="2800"/>
              </a:lnSpc>
              <a:buNone/>
            </a:pPr>
            <a:r>
              <a:rPr lang="en-US" sz="2250" dirty="0">
                <a:solidFill>
                  <a:srgbClr val="E2E6E9"/>
                </a:solidFill>
                <a:latin typeface="Merriweather" pitchFamily="34" charset="0"/>
                <a:ea typeface="Merriweather" pitchFamily="34" charset="-122"/>
                <a:cs typeface="Merriweather" pitchFamily="34" charset="-120"/>
              </a:rPr>
              <a:t>Advantages</a:t>
            </a:r>
            <a:endParaRPr lang="en-US" sz="2250" dirty="0"/>
          </a:p>
        </p:txBody>
      </p:sp>
      <p:sp>
        <p:nvSpPr>
          <p:cNvPr id="9" name="Text 6"/>
          <p:cNvSpPr/>
          <p:nvPr/>
        </p:nvSpPr>
        <p:spPr>
          <a:xfrm>
            <a:off x="4922520" y="2709863"/>
            <a:ext cx="3185160" cy="731520"/>
          </a:xfrm>
          <a:prstGeom prst="rect">
            <a:avLst/>
          </a:prstGeom>
          <a:noFill/>
          <a:ln/>
        </p:spPr>
        <p:txBody>
          <a:bodyPr wrap="square" lIns="0" tIns="0" rIns="0" bIns="0" rtlCol="0" anchor="t"/>
          <a:lstStyle/>
          <a:p>
            <a:pPr marL="342900" indent="-342900" algn="l">
              <a:lnSpc>
                <a:spcPts val="2850"/>
              </a:lnSpc>
              <a:buSzPct val="100000"/>
              <a:buChar char="•"/>
            </a:pPr>
            <a:r>
              <a:rPr lang="en-US" sz="1800" dirty="0">
                <a:solidFill>
                  <a:srgbClr val="E2E6E9"/>
                </a:solidFill>
                <a:latin typeface="Merriweather" pitchFamily="34" charset="0"/>
                <a:ea typeface="Merriweather" pitchFamily="34" charset="-122"/>
                <a:cs typeface="Merriweather" pitchFamily="34" charset="-120"/>
              </a:rPr>
              <a:t>Contactless operation enhances hygiene</a:t>
            </a:r>
            <a:endParaRPr lang="en-US" sz="1800" dirty="0"/>
          </a:p>
        </p:txBody>
      </p:sp>
      <p:sp>
        <p:nvSpPr>
          <p:cNvPr id="10" name="Text 7"/>
          <p:cNvSpPr/>
          <p:nvPr/>
        </p:nvSpPr>
        <p:spPr>
          <a:xfrm>
            <a:off x="4922520" y="3521393"/>
            <a:ext cx="3185160" cy="731520"/>
          </a:xfrm>
          <a:prstGeom prst="rect">
            <a:avLst/>
          </a:prstGeom>
          <a:noFill/>
          <a:ln/>
        </p:spPr>
        <p:txBody>
          <a:bodyPr wrap="square" lIns="0" tIns="0" rIns="0" bIns="0" rtlCol="0" anchor="t"/>
          <a:lstStyle/>
          <a:p>
            <a:pPr marL="342900" indent="-342900" algn="l">
              <a:lnSpc>
                <a:spcPts val="2850"/>
              </a:lnSpc>
              <a:buSzPct val="100000"/>
              <a:buChar char="•"/>
            </a:pPr>
            <a:r>
              <a:rPr lang="en-US" sz="1800" dirty="0">
                <a:solidFill>
                  <a:srgbClr val="E2E6E9"/>
                </a:solidFill>
                <a:latin typeface="Merriweather" pitchFamily="34" charset="0"/>
                <a:ea typeface="Merriweather" pitchFamily="34" charset="-122"/>
                <a:cs typeface="Merriweather" pitchFamily="34" charset="-120"/>
              </a:rPr>
              <a:t>Reduces human errors and proxies</a:t>
            </a:r>
            <a:endParaRPr lang="en-US" sz="1800" dirty="0"/>
          </a:p>
        </p:txBody>
      </p:sp>
      <p:sp>
        <p:nvSpPr>
          <p:cNvPr id="11" name="Text 8"/>
          <p:cNvSpPr/>
          <p:nvPr/>
        </p:nvSpPr>
        <p:spPr>
          <a:xfrm>
            <a:off x="4922520" y="4332923"/>
            <a:ext cx="3185160" cy="731520"/>
          </a:xfrm>
          <a:prstGeom prst="rect">
            <a:avLst/>
          </a:prstGeom>
          <a:noFill/>
          <a:ln/>
        </p:spPr>
        <p:txBody>
          <a:bodyPr wrap="square" lIns="0" tIns="0" rIns="0" bIns="0" rtlCol="0" anchor="t"/>
          <a:lstStyle/>
          <a:p>
            <a:pPr marL="342900" indent="-342900" algn="l">
              <a:lnSpc>
                <a:spcPts val="2850"/>
              </a:lnSpc>
              <a:buSzPct val="100000"/>
              <a:buChar char="•"/>
            </a:pPr>
            <a:r>
              <a:rPr lang="en-US" sz="1800" dirty="0">
                <a:solidFill>
                  <a:srgbClr val="E2E6E9"/>
                </a:solidFill>
                <a:latin typeface="Merriweather" pitchFamily="34" charset="0"/>
                <a:ea typeface="Merriweather" pitchFamily="34" charset="-122"/>
                <a:cs typeface="Merriweather" pitchFamily="34" charset="-120"/>
              </a:rPr>
              <a:t>Easy scalability to larger groups</a:t>
            </a:r>
            <a:endParaRPr lang="en-US" sz="1800" dirty="0"/>
          </a:p>
        </p:txBody>
      </p:sp>
      <p:sp>
        <p:nvSpPr>
          <p:cNvPr id="16" name="Rectangle 15">
            <a:extLst>
              <a:ext uri="{FF2B5EF4-FFF2-40B4-BE49-F238E27FC236}">
                <a16:creationId xmlns:a16="http://schemas.microsoft.com/office/drawing/2014/main" id="{D732AA1C-1300-E626-DAE5-D00E62F1E3E6}"/>
              </a:ext>
            </a:extLst>
          </p:cNvPr>
          <p:cNvSpPr/>
          <p:nvPr/>
        </p:nvSpPr>
        <p:spPr>
          <a:xfrm>
            <a:off x="12812751" y="7660888"/>
            <a:ext cx="1739590" cy="479502"/>
          </a:xfrm>
          <a:prstGeom prst="rect">
            <a:avLst/>
          </a:prstGeom>
          <a:solidFill>
            <a:srgbClr val="091519"/>
          </a:solidFill>
          <a:ln>
            <a:solidFill>
              <a:srgbClr val="091519"/>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pic>
        <p:nvPicPr>
          <p:cNvPr id="19" name="Picture 18">
            <a:extLst>
              <a:ext uri="{FF2B5EF4-FFF2-40B4-BE49-F238E27FC236}">
                <a16:creationId xmlns:a16="http://schemas.microsoft.com/office/drawing/2014/main" id="{BB0E5C8F-8CA7-DC8A-2695-135F3352D9A5}"/>
              </a:ext>
            </a:extLst>
          </p:cNvPr>
          <p:cNvPicPr>
            <a:picLocks noChangeAspect="1"/>
          </p:cNvPicPr>
          <p:nvPr/>
        </p:nvPicPr>
        <p:blipFill>
          <a:blip r:embed="rId3"/>
          <a:stretch>
            <a:fillRect/>
          </a:stretch>
        </p:blipFill>
        <p:spPr>
          <a:xfrm>
            <a:off x="11641874" y="3717"/>
            <a:ext cx="2988526" cy="2873298"/>
          </a:xfrm>
          <a:prstGeom prst="rect">
            <a:avLst/>
          </a:prstGeom>
        </p:spPr>
      </p:pic>
      <p:pic>
        <p:nvPicPr>
          <p:cNvPr id="21" name="Picture 20">
            <a:extLst>
              <a:ext uri="{FF2B5EF4-FFF2-40B4-BE49-F238E27FC236}">
                <a16:creationId xmlns:a16="http://schemas.microsoft.com/office/drawing/2014/main" id="{1FD0A2CD-4429-640F-B819-E1E29981B5A7}"/>
              </a:ext>
            </a:extLst>
          </p:cNvPr>
          <p:cNvPicPr>
            <a:picLocks noChangeAspect="1"/>
          </p:cNvPicPr>
          <p:nvPr/>
        </p:nvPicPr>
        <p:blipFill>
          <a:blip r:embed="rId4"/>
          <a:stretch>
            <a:fillRect/>
          </a:stretch>
        </p:blipFill>
        <p:spPr>
          <a:xfrm>
            <a:off x="8636377" y="2931739"/>
            <a:ext cx="3005495" cy="2873298"/>
          </a:xfrm>
          <a:prstGeom prst="rect">
            <a:avLst/>
          </a:prstGeom>
        </p:spPr>
      </p:pic>
      <p:pic>
        <p:nvPicPr>
          <p:cNvPr id="23" name="Picture 22">
            <a:extLst>
              <a:ext uri="{FF2B5EF4-FFF2-40B4-BE49-F238E27FC236}">
                <a16:creationId xmlns:a16="http://schemas.microsoft.com/office/drawing/2014/main" id="{6066C6B8-76B5-D57C-B7A0-9D0439F74189}"/>
              </a:ext>
            </a:extLst>
          </p:cNvPr>
          <p:cNvPicPr>
            <a:picLocks noChangeAspect="1"/>
          </p:cNvPicPr>
          <p:nvPr/>
        </p:nvPicPr>
        <p:blipFill>
          <a:blip r:embed="rId5"/>
          <a:stretch>
            <a:fillRect/>
          </a:stretch>
        </p:blipFill>
        <p:spPr>
          <a:xfrm>
            <a:off x="11641874" y="2943119"/>
            <a:ext cx="2988526" cy="2873298"/>
          </a:xfrm>
          <a:prstGeom prst="rect">
            <a:avLst/>
          </a:prstGeom>
        </p:spPr>
      </p:pic>
      <p:pic>
        <p:nvPicPr>
          <p:cNvPr id="25" name="Picture 24">
            <a:extLst>
              <a:ext uri="{FF2B5EF4-FFF2-40B4-BE49-F238E27FC236}">
                <a16:creationId xmlns:a16="http://schemas.microsoft.com/office/drawing/2014/main" id="{AB04EFBB-D657-832B-6363-A1221FB334F8}"/>
              </a:ext>
            </a:extLst>
          </p:cNvPr>
          <p:cNvPicPr>
            <a:picLocks noChangeAspect="1"/>
          </p:cNvPicPr>
          <p:nvPr/>
        </p:nvPicPr>
        <p:blipFill>
          <a:blip r:embed="rId6"/>
          <a:stretch>
            <a:fillRect/>
          </a:stretch>
        </p:blipFill>
        <p:spPr>
          <a:xfrm>
            <a:off x="8636378" y="3717"/>
            <a:ext cx="3005495" cy="2873298"/>
          </a:xfrm>
          <a:prstGeom prst="rect">
            <a:avLst/>
          </a:prstGeom>
        </p:spPr>
      </p:pic>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tretch>
            <a:fillRect/>
          </a:stretch>
        </p:blipFill>
        <p:spPr>
          <a:xfrm>
            <a:off x="0" y="0"/>
            <a:ext cx="5486400" cy="8229600"/>
          </a:xfrm>
          <a:prstGeom prst="rect">
            <a:avLst/>
          </a:prstGeom>
        </p:spPr>
      </p:pic>
      <p:sp>
        <p:nvSpPr>
          <p:cNvPr id="3" name="Text 0"/>
          <p:cNvSpPr/>
          <p:nvPr/>
        </p:nvSpPr>
        <p:spPr>
          <a:xfrm>
            <a:off x="6350198" y="1440299"/>
            <a:ext cx="7416403" cy="1542574"/>
          </a:xfrm>
          <a:prstGeom prst="rect">
            <a:avLst/>
          </a:prstGeom>
          <a:noFill/>
          <a:ln/>
        </p:spPr>
        <p:txBody>
          <a:bodyPr wrap="square" lIns="0" tIns="0" rIns="0" bIns="0" rtlCol="0" anchor="t"/>
          <a:lstStyle/>
          <a:p>
            <a:pPr marL="0" indent="0" algn="l">
              <a:lnSpc>
                <a:spcPts val="6050"/>
              </a:lnSpc>
              <a:buNone/>
            </a:pPr>
            <a:r>
              <a:rPr lang="en-US" sz="4850" dirty="0">
                <a:solidFill>
                  <a:srgbClr val="F5F0F0"/>
                </a:solidFill>
                <a:latin typeface="Merriweather" pitchFamily="34" charset="0"/>
                <a:ea typeface="Merriweather" pitchFamily="34" charset="-122"/>
                <a:cs typeface="Merriweather" pitchFamily="34" charset="-120"/>
              </a:rPr>
              <a:t>Conclusion</a:t>
            </a:r>
            <a:endParaRPr lang="en-US" sz="4850" dirty="0"/>
          </a:p>
        </p:txBody>
      </p:sp>
      <p:sp>
        <p:nvSpPr>
          <p:cNvPr id="4" name="Text 1"/>
          <p:cNvSpPr/>
          <p:nvPr/>
        </p:nvSpPr>
        <p:spPr>
          <a:xfrm>
            <a:off x="6350198" y="3353038"/>
            <a:ext cx="7416403" cy="1579245"/>
          </a:xfrm>
          <a:prstGeom prst="rect">
            <a:avLst/>
          </a:prstGeom>
          <a:noFill/>
          <a:ln/>
        </p:spPr>
        <p:txBody>
          <a:bodyPr wrap="square" lIns="0" tIns="0" rIns="0" bIns="0" rtlCol="0" anchor="t"/>
          <a:lstStyle/>
          <a:p>
            <a:pPr marL="0" indent="0" algn="l">
              <a:lnSpc>
                <a:spcPts val="3100"/>
              </a:lnSpc>
              <a:buNone/>
            </a:pPr>
            <a:r>
              <a:rPr lang="en-US" sz="1900" dirty="0">
                <a:solidFill>
                  <a:srgbClr val="E2E6E9"/>
                </a:solidFill>
                <a:latin typeface="Merriweather" pitchFamily="34" charset="0"/>
                <a:ea typeface="Merriweather" pitchFamily="34" charset="-122"/>
                <a:cs typeface="Merriweather" pitchFamily="34" charset="-120"/>
              </a:rPr>
              <a:t>The face recognition-based attendance system successfully achieves contactless, and accurate attendance tracking. It addresses critical hygiene and fraud concerns inherent in legacy methods while providing a user-friendly interface.</a:t>
            </a:r>
            <a:endParaRPr lang="en-US" sz="1900" dirty="0"/>
          </a:p>
        </p:txBody>
      </p:sp>
      <p:sp>
        <p:nvSpPr>
          <p:cNvPr id="6" name="Rectangle 5">
            <a:extLst>
              <a:ext uri="{FF2B5EF4-FFF2-40B4-BE49-F238E27FC236}">
                <a16:creationId xmlns:a16="http://schemas.microsoft.com/office/drawing/2014/main" id="{8E3BEB28-143A-8067-CF6B-9377FC374BCD}"/>
              </a:ext>
            </a:extLst>
          </p:cNvPr>
          <p:cNvSpPr/>
          <p:nvPr/>
        </p:nvSpPr>
        <p:spPr>
          <a:xfrm>
            <a:off x="12812751" y="7660888"/>
            <a:ext cx="1739590" cy="479502"/>
          </a:xfrm>
          <a:prstGeom prst="rect">
            <a:avLst/>
          </a:prstGeom>
          <a:solidFill>
            <a:srgbClr val="091519"/>
          </a:solidFill>
          <a:ln>
            <a:solidFill>
              <a:srgbClr val="091519"/>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p:nvPr/>
        </p:nvSpPr>
        <p:spPr>
          <a:xfrm>
            <a:off x="863798" y="449324"/>
            <a:ext cx="6170771" cy="771287"/>
          </a:xfrm>
          <a:prstGeom prst="rect">
            <a:avLst/>
          </a:prstGeom>
          <a:noFill/>
          <a:ln/>
        </p:spPr>
        <p:txBody>
          <a:bodyPr wrap="none" lIns="0" tIns="0" rIns="0" bIns="0" rtlCol="0" anchor="t"/>
          <a:lstStyle/>
          <a:p>
            <a:pPr marL="0" indent="0" algn="l">
              <a:lnSpc>
                <a:spcPts val="6050"/>
              </a:lnSpc>
              <a:buNone/>
            </a:pPr>
            <a:r>
              <a:rPr lang="en-US" sz="4850" dirty="0">
                <a:solidFill>
                  <a:srgbClr val="F5F0F0"/>
                </a:solidFill>
                <a:latin typeface="Merriweather" pitchFamily="34" charset="0"/>
                <a:ea typeface="Merriweather" pitchFamily="34" charset="-122"/>
                <a:cs typeface="Merriweather" pitchFamily="34" charset="-120"/>
              </a:rPr>
              <a:t>References</a:t>
            </a:r>
            <a:endParaRPr lang="en-US" sz="4850" dirty="0"/>
          </a:p>
        </p:txBody>
      </p:sp>
      <p:sp>
        <p:nvSpPr>
          <p:cNvPr id="3" name="Text 1"/>
          <p:cNvSpPr/>
          <p:nvPr/>
        </p:nvSpPr>
        <p:spPr>
          <a:xfrm>
            <a:off x="863798" y="1249461"/>
            <a:ext cx="12902803" cy="394811"/>
          </a:xfrm>
          <a:prstGeom prst="rect">
            <a:avLst/>
          </a:prstGeom>
          <a:noFill/>
          <a:ln/>
        </p:spPr>
        <p:txBody>
          <a:bodyPr wrap="none" lIns="0" tIns="0" rIns="0" bIns="0" rtlCol="0" anchor="t"/>
          <a:lstStyle/>
          <a:p>
            <a:pPr marL="342900" indent="-342900" algn="l">
              <a:lnSpc>
                <a:spcPts val="3100"/>
              </a:lnSpc>
              <a:buSzPct val="100000"/>
              <a:buFont typeface="+mj-lt"/>
              <a:buAutoNum type="arabicPeriod"/>
            </a:pPr>
            <a:r>
              <a:rPr lang="en-US" sz="1900" dirty="0">
                <a:solidFill>
                  <a:srgbClr val="E2E6E9"/>
                </a:solidFill>
                <a:latin typeface="Merriweather" pitchFamily="34" charset="0"/>
                <a:ea typeface="Merriweather" pitchFamily="34" charset="-122"/>
                <a:cs typeface="Merriweather" pitchFamily="34" charset="-120"/>
              </a:rPr>
              <a:t>OpenCV Documentation – </a:t>
            </a:r>
            <a:r>
              <a:rPr lang="en-US" sz="1900" u="sng" dirty="0">
                <a:solidFill>
                  <a:srgbClr val="609DFF"/>
                </a:solidFill>
                <a:latin typeface="Merriweather" pitchFamily="34" charset="0"/>
                <a:ea typeface="Merriweather" pitchFamily="34" charset="-122"/>
                <a:cs typeface="Merriweather" pitchFamily="34" charset="-120"/>
                <a:hlinkClick r:id="rId3">
                  <a:extLst>
                    <a:ext uri="{A12FA001-AC4F-418D-AE19-62706E023703}">
                      <ahyp:hlinkClr xmlns:ahyp="http://schemas.microsoft.com/office/drawing/2018/hyperlinkcolor" val="tx"/>
                    </a:ext>
                  </a:extLst>
                </a:hlinkClick>
              </a:rPr>
              <a:t>https://docs.opencv.org</a:t>
            </a:r>
            <a:endParaRPr lang="en-US" sz="1900" dirty="0"/>
          </a:p>
        </p:txBody>
      </p:sp>
      <p:sp>
        <p:nvSpPr>
          <p:cNvPr id="4" name="Text 2"/>
          <p:cNvSpPr/>
          <p:nvPr/>
        </p:nvSpPr>
        <p:spPr>
          <a:xfrm>
            <a:off x="863798" y="1666466"/>
            <a:ext cx="12902803" cy="394811"/>
          </a:xfrm>
          <a:prstGeom prst="rect">
            <a:avLst/>
          </a:prstGeom>
          <a:noFill/>
          <a:ln/>
        </p:spPr>
        <p:txBody>
          <a:bodyPr wrap="none" lIns="0" tIns="0" rIns="0" bIns="0" rtlCol="0" anchor="t"/>
          <a:lstStyle/>
          <a:p>
            <a:pPr marL="342900" indent="-342900" algn="l">
              <a:lnSpc>
                <a:spcPts val="3100"/>
              </a:lnSpc>
              <a:buSzPct val="100000"/>
              <a:buFont typeface="+mj-lt"/>
              <a:buAutoNum type="arabicPeriod" startAt="2"/>
            </a:pPr>
            <a:r>
              <a:rPr lang="en-US" sz="1900" dirty="0">
                <a:solidFill>
                  <a:srgbClr val="E2E6E9"/>
                </a:solidFill>
                <a:latin typeface="Merriweather" pitchFamily="34" charset="0"/>
                <a:ea typeface="Merriweather" pitchFamily="34" charset="-122"/>
                <a:cs typeface="Merriweather" pitchFamily="34" charset="-120"/>
              </a:rPr>
              <a:t>face_recognition GitHub Repository – </a:t>
            </a:r>
            <a:r>
              <a:rPr lang="en-US" sz="1900" u="sng" dirty="0">
                <a:solidFill>
                  <a:srgbClr val="609DFF"/>
                </a:solidFill>
                <a:latin typeface="Merriweather" pitchFamily="34" charset="0"/>
                <a:ea typeface="Merriweather" pitchFamily="34" charset="-122"/>
                <a:cs typeface="Merriweather" pitchFamily="34" charset="-120"/>
                <a:hlinkClick r:id="rId4">
                  <a:extLst>
                    <a:ext uri="{A12FA001-AC4F-418D-AE19-62706E023703}">
                      <ahyp:hlinkClr xmlns:ahyp="http://schemas.microsoft.com/office/drawing/2018/hyperlinkcolor" val="tx"/>
                    </a:ext>
                  </a:extLst>
                </a:hlinkClick>
              </a:rPr>
              <a:t>https://github.com/ageitgey/face_recognition</a:t>
            </a:r>
            <a:endParaRPr lang="en-US" sz="1900" dirty="0"/>
          </a:p>
        </p:txBody>
      </p:sp>
      <p:sp>
        <p:nvSpPr>
          <p:cNvPr id="5" name="Text 3"/>
          <p:cNvSpPr/>
          <p:nvPr/>
        </p:nvSpPr>
        <p:spPr>
          <a:xfrm>
            <a:off x="863798" y="2080946"/>
            <a:ext cx="12902803" cy="394811"/>
          </a:xfrm>
          <a:prstGeom prst="rect">
            <a:avLst/>
          </a:prstGeom>
          <a:noFill/>
          <a:ln/>
        </p:spPr>
        <p:txBody>
          <a:bodyPr wrap="none" lIns="0" tIns="0" rIns="0" bIns="0" rtlCol="0" anchor="t"/>
          <a:lstStyle/>
          <a:p>
            <a:pPr marL="342900" indent="-342900" algn="l">
              <a:lnSpc>
                <a:spcPts val="3100"/>
              </a:lnSpc>
              <a:buSzPct val="100000"/>
              <a:buFont typeface="+mj-lt"/>
              <a:buAutoNum type="arabicPeriod" startAt="3"/>
            </a:pPr>
            <a:r>
              <a:rPr lang="en-US" sz="1900" dirty="0">
                <a:solidFill>
                  <a:srgbClr val="E2E6E9"/>
                </a:solidFill>
                <a:latin typeface="Merriweather" pitchFamily="34" charset="0"/>
                <a:ea typeface="Merriweather" pitchFamily="34" charset="-122"/>
                <a:cs typeface="Merriweather" pitchFamily="34" charset="-120"/>
              </a:rPr>
              <a:t>Tkinter Official Documentation – </a:t>
            </a:r>
            <a:r>
              <a:rPr lang="en-US" sz="1900" u="sng" dirty="0">
                <a:solidFill>
                  <a:srgbClr val="609DFF"/>
                </a:solidFill>
                <a:latin typeface="Merriweather" pitchFamily="34" charset="0"/>
                <a:ea typeface="Merriweather" pitchFamily="34" charset="-122"/>
                <a:cs typeface="Merriweather" pitchFamily="34" charset="-120"/>
                <a:hlinkClick r:id="rId5">
                  <a:extLst>
                    <a:ext uri="{A12FA001-AC4F-418D-AE19-62706E023703}">
                      <ahyp:hlinkClr xmlns:ahyp="http://schemas.microsoft.com/office/drawing/2018/hyperlinkcolor" val="tx"/>
                    </a:ext>
                  </a:extLst>
                </a:hlinkClick>
              </a:rPr>
              <a:t>https://docs.python.org/3/library/tkinter.html</a:t>
            </a:r>
            <a:endParaRPr lang="en-US" sz="1900" dirty="0"/>
          </a:p>
        </p:txBody>
      </p:sp>
      <p:sp>
        <p:nvSpPr>
          <p:cNvPr id="6" name="Text 4"/>
          <p:cNvSpPr/>
          <p:nvPr/>
        </p:nvSpPr>
        <p:spPr>
          <a:xfrm>
            <a:off x="863796" y="2502307"/>
            <a:ext cx="12902803" cy="394811"/>
          </a:xfrm>
          <a:prstGeom prst="rect">
            <a:avLst/>
          </a:prstGeom>
          <a:noFill/>
          <a:ln/>
        </p:spPr>
        <p:txBody>
          <a:bodyPr wrap="none" lIns="0" tIns="0" rIns="0" bIns="0" rtlCol="0" anchor="t"/>
          <a:lstStyle/>
          <a:p>
            <a:pPr marL="342900" indent="-342900" algn="l">
              <a:lnSpc>
                <a:spcPts val="3100"/>
              </a:lnSpc>
              <a:buSzPct val="100000"/>
              <a:buFont typeface="+mj-lt"/>
              <a:buAutoNum type="arabicPeriod" startAt="4"/>
            </a:pPr>
            <a:r>
              <a:rPr lang="en-US" sz="1900" dirty="0">
                <a:solidFill>
                  <a:srgbClr val="E2E6E9"/>
                </a:solidFill>
                <a:latin typeface="Merriweather" pitchFamily="34" charset="0"/>
                <a:ea typeface="Merriweather" pitchFamily="34" charset="-122"/>
                <a:cs typeface="Merriweather" pitchFamily="34" charset="-120"/>
              </a:rPr>
              <a:t>Dlib Face Recognition Library – </a:t>
            </a:r>
            <a:r>
              <a:rPr lang="en-US" sz="1900" u="sng" dirty="0">
                <a:solidFill>
                  <a:srgbClr val="609DFF"/>
                </a:solidFill>
                <a:latin typeface="Merriweather" pitchFamily="34" charset="0"/>
                <a:ea typeface="Merriweather" pitchFamily="34" charset="-122"/>
                <a:cs typeface="Merriweather" pitchFamily="34" charset="-120"/>
                <a:hlinkClick r:id="rId6">
                  <a:extLst>
                    <a:ext uri="{A12FA001-AC4F-418D-AE19-62706E023703}">
                      <ahyp:hlinkClr xmlns:ahyp="http://schemas.microsoft.com/office/drawing/2018/hyperlinkcolor" val="tx"/>
                    </a:ext>
                  </a:extLst>
                </a:hlinkClick>
              </a:rPr>
              <a:t>http://dlib.net/</a:t>
            </a:r>
            <a:endParaRPr lang="en-US" sz="1900" dirty="0"/>
          </a:p>
        </p:txBody>
      </p:sp>
      <p:sp>
        <p:nvSpPr>
          <p:cNvPr id="8" name="Rectangle 7">
            <a:extLst>
              <a:ext uri="{FF2B5EF4-FFF2-40B4-BE49-F238E27FC236}">
                <a16:creationId xmlns:a16="http://schemas.microsoft.com/office/drawing/2014/main" id="{189C8FBA-59A9-35B7-58D7-DCA2E653BAB8}"/>
              </a:ext>
            </a:extLst>
          </p:cNvPr>
          <p:cNvSpPr/>
          <p:nvPr/>
        </p:nvSpPr>
        <p:spPr>
          <a:xfrm>
            <a:off x="12812751" y="7660888"/>
            <a:ext cx="1739590" cy="479502"/>
          </a:xfrm>
          <a:prstGeom prst="rect">
            <a:avLst/>
          </a:prstGeom>
          <a:solidFill>
            <a:srgbClr val="091519"/>
          </a:solidFill>
          <a:ln>
            <a:solidFill>
              <a:srgbClr val="091519"/>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1" name="TextBox 10">
            <a:extLst>
              <a:ext uri="{FF2B5EF4-FFF2-40B4-BE49-F238E27FC236}">
                <a16:creationId xmlns:a16="http://schemas.microsoft.com/office/drawing/2014/main" id="{FFC80987-CCE9-F4DC-AAC7-8160DA021E39}"/>
              </a:ext>
            </a:extLst>
          </p:cNvPr>
          <p:cNvSpPr txBox="1"/>
          <p:nvPr/>
        </p:nvSpPr>
        <p:spPr>
          <a:xfrm>
            <a:off x="758283" y="3071770"/>
            <a:ext cx="7315200" cy="842795"/>
          </a:xfrm>
          <a:prstGeom prst="rect">
            <a:avLst/>
          </a:prstGeom>
          <a:noFill/>
        </p:spPr>
        <p:txBody>
          <a:bodyPr wrap="square">
            <a:spAutoFit/>
          </a:bodyPr>
          <a:lstStyle/>
          <a:p>
            <a:pPr marL="0" indent="0" algn="l">
              <a:lnSpc>
                <a:spcPts val="6050"/>
              </a:lnSpc>
              <a:buNone/>
            </a:pPr>
            <a:r>
              <a:rPr lang="en-US" sz="4850" dirty="0">
                <a:solidFill>
                  <a:srgbClr val="F5F0F0"/>
                </a:solidFill>
                <a:latin typeface="Merriweather" pitchFamily="34" charset="0"/>
                <a:ea typeface="Merriweather" pitchFamily="34" charset="-122"/>
                <a:cs typeface="Merriweather" pitchFamily="34" charset="-120"/>
              </a:rPr>
              <a:t>Referred Papers</a:t>
            </a:r>
            <a:endParaRPr lang="en-US" sz="4850" dirty="0"/>
          </a:p>
        </p:txBody>
      </p:sp>
      <p:sp>
        <p:nvSpPr>
          <p:cNvPr id="17" name="TextBox 16">
            <a:extLst>
              <a:ext uri="{FF2B5EF4-FFF2-40B4-BE49-F238E27FC236}">
                <a16:creationId xmlns:a16="http://schemas.microsoft.com/office/drawing/2014/main" id="{D7490BE2-DC20-B7BC-7481-A471F516211A}"/>
              </a:ext>
            </a:extLst>
          </p:cNvPr>
          <p:cNvSpPr txBox="1"/>
          <p:nvPr/>
        </p:nvSpPr>
        <p:spPr>
          <a:xfrm>
            <a:off x="863796" y="4114800"/>
            <a:ext cx="13476672" cy="3139321"/>
          </a:xfrm>
          <a:prstGeom prst="rect">
            <a:avLst/>
          </a:prstGeom>
          <a:noFill/>
        </p:spPr>
        <p:txBody>
          <a:bodyPr wrap="square" rtlCol="0">
            <a:spAutoFit/>
          </a:bodyPr>
          <a:lstStyle/>
          <a:p>
            <a:pPr marL="342900" indent="-342900">
              <a:buFont typeface="+mj-lt"/>
              <a:buAutoNum type="arabicPeriod"/>
            </a:pPr>
            <a:r>
              <a:rPr lang="en-US" dirty="0">
                <a:solidFill>
                  <a:schemeClr val="bg1"/>
                </a:solidFill>
                <a:effectLst/>
                <a:latin typeface="Merriweather" panose="00000500000000000000" pitchFamily="2" charset="0"/>
              </a:rPr>
              <a:t>Mekala, V., et al. </a:t>
            </a:r>
            <a:r>
              <a:rPr lang="en-US" dirty="0">
                <a:solidFill>
                  <a:schemeClr val="bg1"/>
                </a:solidFill>
                <a:effectLst/>
                <a:latin typeface="Merriweather" panose="00000500000000000000" pitchFamily="2" charset="0"/>
                <a:hlinkClick r:id="rId7"/>
              </a:rPr>
              <a:t>"Face recognition based attendance system." </a:t>
            </a:r>
            <a:r>
              <a:rPr lang="en-US" dirty="0">
                <a:solidFill>
                  <a:schemeClr val="bg1"/>
                </a:solidFill>
                <a:effectLst/>
                <a:latin typeface="Merriweather" panose="00000500000000000000" pitchFamily="2" charset="0"/>
              </a:rPr>
              <a:t>International Journal of Innovative Technology and Exploring Engineering 8.12 (2019): 520-525.</a:t>
            </a:r>
          </a:p>
          <a:p>
            <a:pPr marL="342900" indent="-342900">
              <a:buFont typeface="+mj-lt"/>
              <a:buAutoNum type="arabicPeriod"/>
            </a:pPr>
            <a:r>
              <a:rPr lang="en-IN" dirty="0">
                <a:solidFill>
                  <a:schemeClr val="bg1"/>
                </a:solidFill>
                <a:effectLst/>
                <a:latin typeface="Merriweather" panose="00000500000000000000" pitchFamily="2" charset="0"/>
              </a:rPr>
              <a:t>Raj, A. Arjun, et al. </a:t>
            </a:r>
            <a:r>
              <a:rPr lang="en-IN" dirty="0">
                <a:solidFill>
                  <a:schemeClr val="bg1"/>
                </a:solidFill>
                <a:effectLst/>
                <a:latin typeface="Merriweather" panose="00000500000000000000" pitchFamily="2" charset="0"/>
                <a:hlinkClick r:id="rId8"/>
              </a:rPr>
              <a:t>"Face recognition based smart attendance system." </a:t>
            </a:r>
            <a:r>
              <a:rPr lang="en-IN" dirty="0">
                <a:solidFill>
                  <a:schemeClr val="bg1"/>
                </a:solidFill>
                <a:effectLst/>
                <a:latin typeface="Merriweather" panose="00000500000000000000" pitchFamily="2" charset="0"/>
              </a:rPr>
              <a:t>2020 International conference on intelligent engineering and management (ICIEM). IEEE, 2020.</a:t>
            </a:r>
          </a:p>
          <a:p>
            <a:pPr marL="342900" indent="-342900">
              <a:buFont typeface="+mj-lt"/>
              <a:buAutoNum type="arabicPeriod"/>
            </a:pPr>
            <a:r>
              <a:rPr lang="en-IN" dirty="0">
                <a:solidFill>
                  <a:schemeClr val="bg1"/>
                </a:solidFill>
                <a:effectLst/>
                <a:latin typeface="Merriweather" panose="00000500000000000000" pitchFamily="2" charset="0"/>
              </a:rPr>
              <a:t>Gode, Chetan S., et al. </a:t>
            </a:r>
            <a:r>
              <a:rPr lang="en-IN" dirty="0">
                <a:solidFill>
                  <a:schemeClr val="bg1"/>
                </a:solidFill>
                <a:effectLst/>
                <a:latin typeface="Merriweather" panose="00000500000000000000" pitchFamily="2" charset="0"/>
                <a:hlinkClick r:id="rId9"/>
              </a:rPr>
              <a:t>"Face recognition-based attendance system." </a:t>
            </a:r>
            <a:r>
              <a:rPr lang="en-IN" dirty="0">
                <a:solidFill>
                  <a:schemeClr val="bg1"/>
                </a:solidFill>
                <a:effectLst/>
                <a:latin typeface="Merriweather" panose="00000500000000000000" pitchFamily="2" charset="0"/>
              </a:rPr>
              <a:t>Computational Vision and Bio-Inspired Computing: Proceedings of ICCVBIC 2022. Singapore: Springer Nature Singapore, 2023. 159-166.</a:t>
            </a:r>
          </a:p>
          <a:p>
            <a:pPr marL="342900" indent="-342900">
              <a:buFont typeface="+mj-lt"/>
              <a:buAutoNum type="arabicPeriod"/>
            </a:pPr>
            <a:r>
              <a:rPr lang="en-US" dirty="0">
                <a:solidFill>
                  <a:schemeClr val="bg1"/>
                </a:solidFill>
                <a:effectLst/>
                <a:latin typeface="Merriweather" panose="00000500000000000000" pitchFamily="2" charset="0"/>
              </a:rPr>
              <a:t>Prajapati, Harshit, and Ashwani Kumar Mishra. </a:t>
            </a:r>
            <a:r>
              <a:rPr lang="en-US" dirty="0">
                <a:solidFill>
                  <a:schemeClr val="bg1"/>
                </a:solidFill>
                <a:effectLst/>
                <a:latin typeface="Merriweather" panose="00000500000000000000" pitchFamily="2" charset="0"/>
                <a:hlinkClick r:id="rId10"/>
              </a:rPr>
              <a:t>"Attendance System using Face Clusters." </a:t>
            </a:r>
            <a:r>
              <a:rPr lang="en-US" dirty="0">
                <a:solidFill>
                  <a:schemeClr val="bg1"/>
                </a:solidFill>
                <a:effectLst/>
                <a:latin typeface="Merriweather" panose="00000500000000000000" pitchFamily="2" charset="0"/>
              </a:rPr>
              <a:t>MATRIX Academic International Online Journal Of Engineering And Technology 8.1 (2025): 1-11.</a:t>
            </a:r>
          </a:p>
          <a:p>
            <a:pPr marL="342900" indent="-342900">
              <a:buFont typeface="+mj-lt"/>
              <a:buAutoNum type="arabicPeriod"/>
            </a:pPr>
            <a:r>
              <a:rPr lang="en-US" dirty="0">
                <a:solidFill>
                  <a:schemeClr val="bg1"/>
                </a:solidFill>
                <a:effectLst/>
                <a:latin typeface="Merriweather" panose="00000500000000000000" pitchFamily="2" charset="0"/>
              </a:rPr>
              <a:t>Shaheer, S., et al. </a:t>
            </a:r>
            <a:r>
              <a:rPr lang="en-US" dirty="0">
                <a:solidFill>
                  <a:schemeClr val="bg1"/>
                </a:solidFill>
                <a:effectLst/>
                <a:latin typeface="Merriweather" panose="00000500000000000000" pitchFamily="2" charset="0"/>
                <a:hlinkClick r:id="rId11"/>
              </a:rPr>
              <a:t>"Face Recognition-Based Attendance System Using Python: A Novel Approach to Automated Attendance Management." </a:t>
            </a:r>
            <a:r>
              <a:rPr lang="en-US" dirty="0">
                <a:solidFill>
                  <a:schemeClr val="bg1"/>
                </a:solidFill>
                <a:effectLst/>
                <a:latin typeface="Merriweather" panose="00000500000000000000" pitchFamily="2" charset="0"/>
              </a:rPr>
              <a:t>INTERANTIONAL JOURNAL OF SCIENTIFIC RESEARCH IN ENGINEERING AND MANAGEMENT 8.008.(2024)</a:t>
            </a:r>
            <a:endParaRPr lang="en-IN" dirty="0">
              <a:solidFill>
                <a:schemeClr val="bg1"/>
              </a:solidFill>
              <a:latin typeface="Merriweather" panose="00000500000000000000" pitchFamily="2" charset="0"/>
            </a:endParaRP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p:nvPr/>
        </p:nvSpPr>
        <p:spPr>
          <a:xfrm>
            <a:off x="863798" y="2948702"/>
            <a:ext cx="6170771" cy="771287"/>
          </a:xfrm>
          <a:prstGeom prst="rect">
            <a:avLst/>
          </a:prstGeom>
          <a:noFill/>
          <a:ln/>
        </p:spPr>
        <p:txBody>
          <a:bodyPr wrap="none" lIns="0" tIns="0" rIns="0" bIns="0" rtlCol="0" anchor="t"/>
          <a:lstStyle/>
          <a:p>
            <a:pPr marL="0" indent="0" algn="l">
              <a:lnSpc>
                <a:spcPts val="6050"/>
              </a:lnSpc>
              <a:buNone/>
            </a:pPr>
            <a:r>
              <a:rPr lang="en-US" sz="4850" dirty="0">
                <a:solidFill>
                  <a:srgbClr val="F5F0F0"/>
                </a:solidFill>
                <a:latin typeface="Merriweather" pitchFamily="34" charset="0"/>
                <a:ea typeface="Merriweather" pitchFamily="34" charset="-122"/>
                <a:cs typeface="Merriweather" pitchFamily="34" charset="-120"/>
              </a:rPr>
              <a:t>Thank You</a:t>
            </a:r>
            <a:endParaRPr lang="en-US" sz="4850" dirty="0"/>
          </a:p>
        </p:txBody>
      </p:sp>
      <p:sp>
        <p:nvSpPr>
          <p:cNvPr id="3" name="Text 1"/>
          <p:cNvSpPr/>
          <p:nvPr/>
        </p:nvSpPr>
        <p:spPr>
          <a:xfrm>
            <a:off x="863798" y="4213622"/>
            <a:ext cx="12902803" cy="394811"/>
          </a:xfrm>
          <a:prstGeom prst="rect">
            <a:avLst/>
          </a:prstGeom>
          <a:noFill/>
          <a:ln/>
        </p:spPr>
        <p:txBody>
          <a:bodyPr wrap="none" lIns="0" tIns="0" rIns="0" bIns="0" rtlCol="0" anchor="t"/>
          <a:lstStyle/>
          <a:p>
            <a:pPr marL="0" indent="0" algn="l">
              <a:lnSpc>
                <a:spcPts val="3100"/>
              </a:lnSpc>
              <a:buNone/>
            </a:pPr>
            <a:r>
              <a:rPr lang="en-US" sz="1900" dirty="0">
                <a:solidFill>
                  <a:srgbClr val="E2E6E9"/>
                </a:solidFill>
                <a:latin typeface="Merriweather" pitchFamily="34" charset="0"/>
                <a:ea typeface="Merriweather" pitchFamily="34" charset="-122"/>
                <a:cs typeface="Merriweather" pitchFamily="34" charset="-120"/>
              </a:rPr>
              <a:t>I appreciate your time and interest in my project.</a:t>
            </a:r>
            <a:endParaRPr lang="en-US" sz="1900" dirty="0"/>
          </a:p>
        </p:txBody>
      </p:sp>
      <p:sp>
        <p:nvSpPr>
          <p:cNvPr id="4" name="Text 2"/>
          <p:cNvSpPr/>
          <p:nvPr/>
        </p:nvSpPr>
        <p:spPr>
          <a:xfrm>
            <a:off x="863798" y="4886087"/>
            <a:ext cx="12902803" cy="394811"/>
          </a:xfrm>
          <a:prstGeom prst="rect">
            <a:avLst/>
          </a:prstGeom>
          <a:noFill/>
          <a:ln/>
        </p:spPr>
        <p:txBody>
          <a:bodyPr wrap="none" lIns="0" tIns="0" rIns="0" bIns="0" rtlCol="0" anchor="t"/>
          <a:lstStyle/>
          <a:p>
            <a:pPr marL="0" indent="0" algn="l">
              <a:lnSpc>
                <a:spcPts val="3100"/>
              </a:lnSpc>
              <a:buNone/>
            </a:pPr>
            <a:r>
              <a:rPr lang="en-US" sz="1900" dirty="0">
                <a:solidFill>
                  <a:srgbClr val="E2E6E9"/>
                </a:solidFill>
                <a:latin typeface="Merriweather" pitchFamily="34" charset="0"/>
                <a:ea typeface="Merriweather" pitchFamily="34" charset="-122"/>
                <a:cs typeface="Merriweather" pitchFamily="34" charset="-120"/>
              </a:rPr>
              <a:t>Feel free to ask questions or request further details.</a:t>
            </a:r>
            <a:endParaRPr lang="en-US" sz="1900" dirty="0"/>
          </a:p>
        </p:txBody>
      </p:sp>
      <p:sp>
        <p:nvSpPr>
          <p:cNvPr id="5" name="Rectangle 4">
            <a:extLst>
              <a:ext uri="{FF2B5EF4-FFF2-40B4-BE49-F238E27FC236}">
                <a16:creationId xmlns:a16="http://schemas.microsoft.com/office/drawing/2014/main" id="{82977968-E63E-683F-4D44-7AFB2A51062E}"/>
              </a:ext>
            </a:extLst>
          </p:cNvPr>
          <p:cNvSpPr/>
          <p:nvPr/>
        </p:nvSpPr>
        <p:spPr>
          <a:xfrm>
            <a:off x="12812751" y="7649737"/>
            <a:ext cx="1739590" cy="479502"/>
          </a:xfrm>
          <a:prstGeom prst="rect">
            <a:avLst/>
          </a:prstGeom>
          <a:solidFill>
            <a:srgbClr val="091519"/>
          </a:solidFill>
          <a:ln>
            <a:solidFill>
              <a:srgbClr val="091519"/>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317</TotalTime>
  <Words>1226</Words>
  <Application>Microsoft Office PowerPoint</Application>
  <PresentationFormat>Custom</PresentationFormat>
  <Paragraphs>126</Paragraphs>
  <Slides>13</Slides>
  <Notes>13</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13</vt:i4>
      </vt:variant>
    </vt:vector>
  </HeadingPairs>
  <TitlesOfParts>
    <vt:vector size="16" baseType="lpstr">
      <vt:lpstr>Merriweather</vt:lpstr>
      <vt:lpstr>Arial</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Vaishnavi Lokhanday</cp:lastModifiedBy>
  <cp:revision>2</cp:revision>
  <dcterms:created xsi:type="dcterms:W3CDTF">2025-05-22T05:41:15Z</dcterms:created>
  <dcterms:modified xsi:type="dcterms:W3CDTF">2025-06-10T06:54:29Z</dcterms:modified>
</cp:coreProperties>
</file>